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83" r:id="rId3"/>
    <p:sldId id="292" r:id="rId4"/>
    <p:sldId id="265" r:id="rId5"/>
    <p:sldId id="280" r:id="rId6"/>
    <p:sldId id="279" r:id="rId7"/>
    <p:sldId id="278" r:id="rId8"/>
    <p:sldId id="277" r:id="rId9"/>
    <p:sldId id="290" r:id="rId10"/>
    <p:sldId id="263" r:id="rId11"/>
    <p:sldId id="284" r:id="rId12"/>
    <p:sldId id="264" r:id="rId13"/>
    <p:sldId id="269" r:id="rId14"/>
    <p:sldId id="291" r:id="rId15"/>
    <p:sldId id="285" r:id="rId16"/>
    <p:sldId id="271" r:id="rId17"/>
    <p:sldId id="272" r:id="rId18"/>
    <p:sldId id="273" r:id="rId19"/>
    <p:sldId id="282" r:id="rId20"/>
    <p:sldId id="287" r:id="rId21"/>
    <p:sldId id="288" r:id="rId22"/>
    <p:sldId id="289" r:id="rId23"/>
    <p:sldId id="28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F68C55D-28E6-13DE-A942-D3074971CDAD}" name="Yoshita Gureja" initials="YG" userId="02e94e54eabd728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00B0F0"/>
    <a:srgbClr val="7030A0"/>
    <a:srgbClr val="FFC000"/>
    <a:srgbClr val="D5FC79"/>
    <a:srgbClr val="FFFFFF"/>
    <a:srgbClr val="FF9300"/>
    <a:srgbClr val="628C35"/>
    <a:srgbClr val="888888"/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18"/>
    <p:restoredTop sz="94591"/>
  </p:normalViewPr>
  <p:slideViewPr>
    <p:cSldViewPr snapToGrid="0">
      <p:cViewPr varScale="1">
        <p:scale>
          <a:sx n="112" d="100"/>
          <a:sy n="112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2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6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02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36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33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172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0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2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83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9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3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02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7" r:id="rId6"/>
    <p:sldLayoutId id="2147483702" r:id="rId7"/>
    <p:sldLayoutId id="2147483703" r:id="rId8"/>
    <p:sldLayoutId id="2147483704" r:id="rId9"/>
    <p:sldLayoutId id="2147483706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20631-C5F2-2246-A351-AB768D9A27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07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5D484-CD1B-33FA-5E54-B8C4C51E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Fine Tuning LLMs for Text-to-SQL-Generation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EDC56-0F1D-7AE1-F0F1-A104111EE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1981201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FRAUD RISK DOMAIN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A1A6A781-44D7-821C-4B13-56B3CE73CC3D}"/>
              </a:ext>
            </a:extLst>
          </p:cNvPr>
          <p:cNvSpPr txBox="1">
            <a:spLocks/>
          </p:cNvSpPr>
          <p:nvPr/>
        </p:nvSpPr>
        <p:spPr>
          <a:xfrm>
            <a:off x="8227625" y="3476377"/>
            <a:ext cx="3846696" cy="1981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Presenter: YOSHITA GUREJA</a:t>
            </a:r>
          </a:p>
        </p:txBody>
      </p:sp>
    </p:spTree>
    <p:extLst>
      <p:ext uri="{BB962C8B-B14F-4D97-AF65-F5344CB8AC3E}">
        <p14:creationId xmlns:p14="http://schemas.microsoft.com/office/powerpoint/2010/main" val="1017904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2DC86-C2D5-8E26-A0AF-C7CC310F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44028-AC17-8754-445F-6850D45EC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10412103" cy="661174"/>
          </a:xfrm>
          <a:solidFill>
            <a:schemeClr val="bg1">
              <a:lumMod val="50000"/>
              <a:alpha val="7059"/>
            </a:scheme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49D6E-6B2C-8362-437F-7E3832B42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598" y="867498"/>
            <a:ext cx="6720840" cy="4935981"/>
          </a:xfrm>
          <a:solidFill>
            <a:srgbClr val="00B0F0">
              <a:alpha val="50196"/>
            </a:srgb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Set/Model Selection Rationale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Dataset Preparation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+ Tokenizer Loading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Fine Tuning: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 Fine-Tuning, LoRA, QLoRA, Prefix Tuning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&amp; Results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Generation on 500 test samples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13 metrics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 </a:t>
            </a:r>
          </a:p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275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E9CF2-FC28-F8C0-077A-C01E842EF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FA9F-0A2B-C6E5-CBC6-1E68D1820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1041210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EXECUTIVE SUMMARY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37DC1E-86A0-333A-FC02-D037CE50F8F8}"/>
              </a:ext>
            </a:extLst>
          </p:cNvPr>
          <p:cNvSpPr txBox="1"/>
          <p:nvPr/>
        </p:nvSpPr>
        <p:spPr>
          <a:xfrm>
            <a:off x="700634" y="6412375"/>
            <a:ext cx="6348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Note: SQL- Structured Query Language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E0E749-5F4B-F49B-1C9E-AC0FC92DC729}"/>
              </a:ext>
            </a:extLst>
          </p:cNvPr>
          <p:cNvSpPr/>
          <p:nvPr/>
        </p:nvSpPr>
        <p:spPr>
          <a:xfrm>
            <a:off x="914400" y="969010"/>
            <a:ext cx="2160270" cy="618164"/>
          </a:xfrm>
          <a:prstGeom prst="roundRect">
            <a:avLst/>
          </a:prstGeom>
          <a:solidFill>
            <a:schemeClr val="tx1">
              <a:lumMod val="65000"/>
              <a:lumOff val="35000"/>
              <a:alpha val="44000"/>
            </a:schemeClr>
          </a:solidFill>
          <a:ln w="12700" cap="flat" cmpd="sng" algn="ctr">
            <a:solidFill>
              <a:srgbClr val="628C3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CF903C-C13B-DB01-8422-4970ADD7DB23}"/>
              </a:ext>
            </a:extLst>
          </p:cNvPr>
          <p:cNvSpPr/>
          <p:nvPr/>
        </p:nvSpPr>
        <p:spPr>
          <a:xfrm>
            <a:off x="914400" y="1841500"/>
            <a:ext cx="2160270" cy="1371600"/>
          </a:xfrm>
          <a:prstGeom prst="roundRect">
            <a:avLst/>
          </a:prstGeom>
          <a:solidFill>
            <a:schemeClr val="tx1">
              <a:lumMod val="65000"/>
              <a:lumOff val="35000"/>
              <a:alpha val="44000"/>
            </a:schemeClr>
          </a:solidFill>
          <a:ln w="12700" cap="flat" cmpd="sng" algn="ctr">
            <a:solidFill>
              <a:srgbClr val="628C3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Approach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A39966-33B2-B1DF-790A-4DFFA0B69333}"/>
              </a:ext>
            </a:extLst>
          </p:cNvPr>
          <p:cNvCxnSpPr>
            <a:cxnSpLocks/>
          </p:cNvCxnSpPr>
          <p:nvPr/>
        </p:nvCxnSpPr>
        <p:spPr>
          <a:xfrm>
            <a:off x="3514351" y="969010"/>
            <a:ext cx="0" cy="47219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40ACBE-5D07-F142-A302-7D3D26E2E033}"/>
              </a:ext>
            </a:extLst>
          </p:cNvPr>
          <p:cNvSpPr/>
          <p:nvPr/>
        </p:nvSpPr>
        <p:spPr>
          <a:xfrm>
            <a:off x="3954032" y="969010"/>
            <a:ext cx="7425797" cy="618164"/>
          </a:xfrm>
          <a:prstGeom prst="roundRect">
            <a:avLst/>
          </a:prstGeom>
          <a:solidFill>
            <a:schemeClr val="bg1">
              <a:alpha val="44000"/>
            </a:schemeClr>
          </a:solidFill>
          <a:ln w="12700" cap="flat" cmpd="sng" algn="ctr">
            <a:solidFill>
              <a:srgbClr val="628C3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Fraud analysts must translate complex investigative questions into SQL queries — a time-consuming and expertise-heavy process.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05F065-3C18-2E0C-D7B7-4A3EE0242710}"/>
              </a:ext>
            </a:extLst>
          </p:cNvPr>
          <p:cNvSpPr/>
          <p:nvPr/>
        </p:nvSpPr>
        <p:spPr>
          <a:xfrm>
            <a:off x="3954033" y="1841500"/>
            <a:ext cx="7425796" cy="1371600"/>
          </a:xfrm>
          <a:prstGeom prst="roundRect">
            <a:avLst/>
          </a:prstGeom>
          <a:solidFill>
            <a:schemeClr val="bg1">
              <a:alpha val="44000"/>
            </a:schemeClr>
          </a:solidFill>
          <a:ln w="12700" cap="flat" cmpd="sng" algn="ctr">
            <a:solidFill>
              <a:srgbClr val="628C3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Fine-tuned Qwen2-0.5B-Instruct 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 Fine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QLoRA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Prefix Tuning</a:t>
            </a:r>
          </a:p>
          <a:p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Evaluated across 13 metrics on a domain-filtered Text-to-SQL dataset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E249590-BEFC-82D0-CB40-70BD4FD5554C}"/>
              </a:ext>
            </a:extLst>
          </p:cNvPr>
          <p:cNvSpPr/>
          <p:nvPr/>
        </p:nvSpPr>
        <p:spPr>
          <a:xfrm>
            <a:off x="927100" y="3517900"/>
            <a:ext cx="2160270" cy="1308100"/>
          </a:xfrm>
          <a:prstGeom prst="roundRect">
            <a:avLst/>
          </a:prstGeom>
          <a:solidFill>
            <a:schemeClr val="tx1">
              <a:lumMod val="65000"/>
              <a:lumOff val="35000"/>
              <a:alpha val="44000"/>
            </a:schemeClr>
          </a:solidFill>
          <a:ln w="12700" cap="flat" cmpd="sng" algn="ctr">
            <a:solidFill>
              <a:srgbClr val="628C3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findings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890F9B8-21D0-D633-4634-9A3331852795}"/>
              </a:ext>
            </a:extLst>
          </p:cNvPr>
          <p:cNvSpPr/>
          <p:nvPr/>
        </p:nvSpPr>
        <p:spPr>
          <a:xfrm>
            <a:off x="3954033" y="3517900"/>
            <a:ext cx="7425796" cy="1308100"/>
          </a:xfrm>
          <a:prstGeom prst="roundRect">
            <a:avLst/>
          </a:prstGeom>
          <a:solidFill>
            <a:schemeClr val="bg1">
              <a:alpha val="44000"/>
            </a:schemeClr>
          </a:solidFill>
          <a:ln w="12700" cap="flat" cmpd="sng" algn="ctr">
            <a:solidFill>
              <a:srgbClr val="628C3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 achieves near-parity with Full Fine-Tuning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QLoRA offers strong trade-offs(slight drop, major memory gain)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Prefix Tuning fails for structured SQL generation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54387D3-9D23-BB40-0B89-6F3673EF31FE}"/>
              </a:ext>
            </a:extLst>
          </p:cNvPr>
          <p:cNvSpPr/>
          <p:nvPr/>
        </p:nvSpPr>
        <p:spPr>
          <a:xfrm>
            <a:off x="990600" y="5160010"/>
            <a:ext cx="2160270" cy="618164"/>
          </a:xfrm>
          <a:prstGeom prst="roundRect">
            <a:avLst/>
          </a:prstGeom>
          <a:solidFill>
            <a:schemeClr val="tx1">
              <a:lumMod val="65000"/>
              <a:lumOff val="35000"/>
              <a:alpha val="44000"/>
            </a:schemeClr>
          </a:solidFill>
          <a:ln w="12700" cap="flat" cmpd="sng" algn="ctr">
            <a:solidFill>
              <a:srgbClr val="628C3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Recommendation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B699649-C390-DF5D-A3BA-500D60691A4B}"/>
              </a:ext>
            </a:extLst>
          </p:cNvPr>
          <p:cNvSpPr/>
          <p:nvPr/>
        </p:nvSpPr>
        <p:spPr>
          <a:xfrm>
            <a:off x="3954033" y="5160010"/>
            <a:ext cx="7425796" cy="618164"/>
          </a:xfrm>
          <a:prstGeom prst="roundRect">
            <a:avLst/>
          </a:prstGeom>
          <a:solidFill>
            <a:schemeClr val="bg1">
              <a:alpha val="44000"/>
            </a:schemeClr>
          </a:solidFill>
          <a:ln w="12700" cap="flat" cmpd="sng" algn="ctr">
            <a:solidFill>
              <a:srgbClr val="628C3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 provides the best balance of performance, cost,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2215202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A0092-42A3-8427-C5A2-79E24683A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7B0B0CC7-D086-7F14-86D3-C93D96758B93}"/>
              </a:ext>
            </a:extLst>
          </p:cNvPr>
          <p:cNvSpPr/>
          <p:nvPr/>
        </p:nvSpPr>
        <p:spPr>
          <a:xfrm>
            <a:off x="329784" y="584616"/>
            <a:ext cx="10163331" cy="5966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6D1F159-48EC-BBD6-D701-A44D62CB3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14B6BC0-2B6F-05B6-F8CA-EEEA6C431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357AB65-8CE5-287E-27B3-F80B26368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24411-687F-B47E-D541-14558DF59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1041210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SUMMARY-FLOW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2C5E388-DECB-C557-F9D0-6FCA58838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EFF1447-DBD7-0D6C-4DFE-8D5F90D9DF0A}"/>
              </a:ext>
            </a:extLst>
          </p:cNvPr>
          <p:cNvSpPr/>
          <p:nvPr/>
        </p:nvSpPr>
        <p:spPr>
          <a:xfrm>
            <a:off x="914400" y="880110"/>
            <a:ext cx="2160270" cy="618164"/>
          </a:xfrm>
          <a:prstGeom prst="roundRect">
            <a:avLst/>
          </a:prstGeom>
          <a:solidFill>
            <a:srgbClr val="92D050">
              <a:alpha val="44000"/>
            </a:srgbClr>
          </a:solidFill>
          <a:ln w="12700" cap="flat" cmpd="sng" algn="ctr">
            <a:solidFill>
              <a:srgbClr val="628C3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628C3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 0</a:t>
            </a:r>
          </a:p>
          <a:p>
            <a:pPr algn="ctr"/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 Set up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224D722-F4D3-C510-52EA-82F308C6C45D}"/>
              </a:ext>
            </a:extLst>
          </p:cNvPr>
          <p:cNvSpPr/>
          <p:nvPr/>
        </p:nvSpPr>
        <p:spPr>
          <a:xfrm>
            <a:off x="4271010" y="1946910"/>
            <a:ext cx="3224072" cy="74295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 2</a:t>
            </a:r>
          </a:p>
          <a:p>
            <a:pPr algn="ctr"/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Tokenization +Model Loading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F1F48F7-9599-A458-3F07-00ABDD6DED55}"/>
              </a:ext>
            </a:extLst>
          </p:cNvPr>
          <p:cNvSpPr/>
          <p:nvPr/>
        </p:nvSpPr>
        <p:spPr>
          <a:xfrm>
            <a:off x="906780" y="3059431"/>
            <a:ext cx="1791450" cy="74295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 FT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weights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4B9C14D-5FB8-9D8F-19EA-D4E0AD421632}"/>
              </a:ext>
            </a:extLst>
          </p:cNvPr>
          <p:cNvSpPr/>
          <p:nvPr/>
        </p:nvSpPr>
        <p:spPr>
          <a:xfrm>
            <a:off x="1091564" y="4389281"/>
            <a:ext cx="7983855" cy="591447"/>
          </a:xfrm>
          <a:prstGeom prst="roundRect">
            <a:avLst/>
          </a:prstGeom>
          <a:solidFill>
            <a:srgbClr val="FF9300">
              <a:alpha val="4431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 4</a:t>
            </a:r>
          </a:p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Generation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BAC353C-0B9A-6098-1F08-554BD9CF55FB}"/>
              </a:ext>
            </a:extLst>
          </p:cNvPr>
          <p:cNvSpPr/>
          <p:nvPr/>
        </p:nvSpPr>
        <p:spPr>
          <a:xfrm>
            <a:off x="1091565" y="5183058"/>
            <a:ext cx="7983854" cy="591447"/>
          </a:xfrm>
          <a:prstGeom prst="roundRect">
            <a:avLst/>
          </a:prstGeom>
          <a:solidFill>
            <a:srgbClr val="00B0F0">
              <a:alpha val="27451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 5</a:t>
            </a:r>
          </a:p>
          <a:p>
            <a:pPr algn="ctr"/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Evaluate using BLEU, ROUGE, BERT etc.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CFCAF43-7429-082A-45A9-A321BDBC2741}"/>
              </a:ext>
            </a:extLst>
          </p:cNvPr>
          <p:cNvSpPr/>
          <p:nvPr/>
        </p:nvSpPr>
        <p:spPr>
          <a:xfrm>
            <a:off x="2330576" y="6044098"/>
            <a:ext cx="6086006" cy="26159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 6: Results &amp; Analysis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9FC01ED-3394-B2E0-C35F-E87AF24FF92E}"/>
              </a:ext>
            </a:extLst>
          </p:cNvPr>
          <p:cNvSpPr/>
          <p:nvPr/>
        </p:nvSpPr>
        <p:spPr>
          <a:xfrm>
            <a:off x="3989070" y="881813"/>
            <a:ext cx="2160270" cy="618164"/>
          </a:xfrm>
          <a:prstGeom prst="roundRect">
            <a:avLst/>
          </a:prstGeom>
          <a:solidFill>
            <a:srgbClr val="92D050">
              <a:alpha val="44000"/>
            </a:srgbClr>
          </a:solidFill>
          <a:ln w="12700" cap="flat" cmpd="sng" algn="ctr">
            <a:solidFill>
              <a:srgbClr val="628C3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628C3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>
                <a:solidFill>
                  <a:srgbClr val="628C3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 0</a:t>
            </a:r>
          </a:p>
          <a:p>
            <a:pPr algn="ctr"/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 block</a:t>
            </a:r>
          </a:p>
          <a:p>
            <a:pPr algn="ctr"/>
            <a:endParaRPr lang="en-US" dirty="0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C403B5B-35B4-536B-C5B2-AA54F2B30450}"/>
              </a:ext>
            </a:extLst>
          </p:cNvPr>
          <p:cNvSpPr/>
          <p:nvPr/>
        </p:nvSpPr>
        <p:spPr>
          <a:xfrm>
            <a:off x="6968367" y="890790"/>
            <a:ext cx="2160270" cy="618164"/>
          </a:xfrm>
          <a:prstGeom prst="roundRect">
            <a:avLst/>
          </a:prstGeom>
          <a:solidFill>
            <a:srgbClr val="92D050">
              <a:alpha val="44000"/>
            </a:srgbClr>
          </a:solidFill>
          <a:ln w="12700" cap="flat" cmpd="sng" algn="ctr">
            <a:solidFill>
              <a:srgbClr val="628C3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628C3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>
                <a:solidFill>
                  <a:srgbClr val="628C3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 1</a:t>
            </a:r>
          </a:p>
          <a:p>
            <a:pPr algn="ctr"/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Preparation</a:t>
            </a:r>
          </a:p>
          <a:p>
            <a:pPr algn="ctr"/>
            <a:endParaRPr lang="en-US" dirty="0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68C43B0-93FF-55CA-F47B-A84643B255B8}"/>
              </a:ext>
            </a:extLst>
          </p:cNvPr>
          <p:cNvSpPr/>
          <p:nvPr/>
        </p:nvSpPr>
        <p:spPr>
          <a:xfrm>
            <a:off x="906780" y="1946910"/>
            <a:ext cx="2391056" cy="74295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 3</a:t>
            </a:r>
          </a:p>
          <a:p>
            <a:pPr algn="ctr"/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Fine Tuning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BDAE7BF-359D-6F16-F66A-927E9C9D1700}"/>
              </a:ext>
            </a:extLst>
          </p:cNvPr>
          <p:cNvSpPr/>
          <p:nvPr/>
        </p:nvSpPr>
        <p:spPr>
          <a:xfrm>
            <a:off x="2947934" y="3061931"/>
            <a:ext cx="2160270" cy="74295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Low Rank Adapters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D53E23A-711B-9B15-8D81-85246B898363}"/>
              </a:ext>
            </a:extLst>
          </p:cNvPr>
          <p:cNvSpPr/>
          <p:nvPr/>
        </p:nvSpPr>
        <p:spPr>
          <a:xfrm>
            <a:off x="5373579" y="3057525"/>
            <a:ext cx="1766421" cy="74295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QLoRA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4-bit quantized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6227A52-98AC-2054-00DA-0C4D40E0E93B}"/>
              </a:ext>
            </a:extLst>
          </p:cNvPr>
          <p:cNvSpPr/>
          <p:nvPr/>
        </p:nvSpPr>
        <p:spPr>
          <a:xfrm>
            <a:off x="7448050" y="3052369"/>
            <a:ext cx="1706470" cy="74295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Prefix Tuning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Virtual Tokens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698032A-FE82-9DB5-CC1E-60D9A0908165}"/>
              </a:ext>
            </a:extLst>
          </p:cNvPr>
          <p:cNvCxnSpPr>
            <a:stCxn id="29" idx="3"/>
            <a:endCxn id="46" idx="1"/>
          </p:cNvCxnSpPr>
          <p:nvPr/>
        </p:nvCxnSpPr>
        <p:spPr>
          <a:xfrm>
            <a:off x="3074670" y="1189192"/>
            <a:ext cx="914400" cy="17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EBE8C32-4FBD-CAFD-D899-496A850C5426}"/>
              </a:ext>
            </a:extLst>
          </p:cNvPr>
          <p:cNvCxnSpPr>
            <a:cxnSpLocks/>
          </p:cNvCxnSpPr>
          <p:nvPr/>
        </p:nvCxnSpPr>
        <p:spPr>
          <a:xfrm>
            <a:off x="6161397" y="1192354"/>
            <a:ext cx="800100" cy="75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16787FC-CF6A-5E61-3F81-94B21563C5CC}"/>
              </a:ext>
            </a:extLst>
          </p:cNvPr>
          <p:cNvCxnSpPr>
            <a:cxnSpLocks/>
          </p:cNvCxnSpPr>
          <p:nvPr/>
        </p:nvCxnSpPr>
        <p:spPr>
          <a:xfrm>
            <a:off x="1837982" y="3800276"/>
            <a:ext cx="0" cy="5890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77D3B27-DB88-F497-916B-62C500D9B586}"/>
              </a:ext>
            </a:extLst>
          </p:cNvPr>
          <p:cNvCxnSpPr>
            <a:cxnSpLocks/>
          </p:cNvCxnSpPr>
          <p:nvPr/>
        </p:nvCxnSpPr>
        <p:spPr>
          <a:xfrm>
            <a:off x="4029040" y="3787786"/>
            <a:ext cx="0" cy="5890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03341A6-25D0-F9B4-78FA-1AAAB82153CF}"/>
              </a:ext>
            </a:extLst>
          </p:cNvPr>
          <p:cNvCxnSpPr>
            <a:cxnSpLocks/>
          </p:cNvCxnSpPr>
          <p:nvPr/>
        </p:nvCxnSpPr>
        <p:spPr>
          <a:xfrm>
            <a:off x="6235088" y="3790286"/>
            <a:ext cx="0" cy="5890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C0CE39B-11C5-9566-4423-7ADE426388B7}"/>
              </a:ext>
            </a:extLst>
          </p:cNvPr>
          <p:cNvCxnSpPr>
            <a:cxnSpLocks/>
          </p:cNvCxnSpPr>
          <p:nvPr/>
        </p:nvCxnSpPr>
        <p:spPr>
          <a:xfrm>
            <a:off x="8276246" y="3777796"/>
            <a:ext cx="0" cy="5890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5E27A25-00B9-2730-D0DF-44E861CFCFC6}"/>
              </a:ext>
            </a:extLst>
          </p:cNvPr>
          <p:cNvCxnSpPr>
            <a:cxnSpLocks/>
          </p:cNvCxnSpPr>
          <p:nvPr/>
        </p:nvCxnSpPr>
        <p:spPr>
          <a:xfrm>
            <a:off x="5338179" y="4980728"/>
            <a:ext cx="0" cy="2208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AD47B06-CC24-DDFD-121E-6219CCB1148B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5370659" y="5777703"/>
            <a:ext cx="2920" cy="2663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E1D0C42-9E9F-9BAD-7D16-3D2F934A7B6B}"/>
              </a:ext>
            </a:extLst>
          </p:cNvPr>
          <p:cNvCxnSpPr>
            <a:cxnSpLocks/>
          </p:cNvCxnSpPr>
          <p:nvPr/>
        </p:nvCxnSpPr>
        <p:spPr>
          <a:xfrm>
            <a:off x="8072051" y="1508954"/>
            <a:ext cx="0" cy="8094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0DCE42D-EBCB-78D6-3B1A-E34427BA7D8A}"/>
              </a:ext>
            </a:extLst>
          </p:cNvPr>
          <p:cNvCxnSpPr>
            <a:cxnSpLocks/>
          </p:cNvCxnSpPr>
          <p:nvPr/>
        </p:nvCxnSpPr>
        <p:spPr>
          <a:xfrm flipH="1" flipV="1">
            <a:off x="7485385" y="2312740"/>
            <a:ext cx="586666" cy="96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B923692-F955-7E3E-483C-B43B2F4A54B4}"/>
              </a:ext>
            </a:extLst>
          </p:cNvPr>
          <p:cNvCxnSpPr>
            <a:cxnSpLocks/>
          </p:cNvCxnSpPr>
          <p:nvPr/>
        </p:nvCxnSpPr>
        <p:spPr>
          <a:xfrm>
            <a:off x="1837982" y="2886731"/>
            <a:ext cx="64382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80B9931-A05D-620C-62FD-A18C6E6742FD}"/>
              </a:ext>
            </a:extLst>
          </p:cNvPr>
          <p:cNvCxnSpPr/>
          <p:nvPr/>
        </p:nvCxnSpPr>
        <p:spPr>
          <a:xfrm>
            <a:off x="1837982" y="2886731"/>
            <a:ext cx="0" cy="1727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5120E65-5F5A-55B6-5C42-42436FB468AB}"/>
              </a:ext>
            </a:extLst>
          </p:cNvPr>
          <p:cNvCxnSpPr/>
          <p:nvPr/>
        </p:nvCxnSpPr>
        <p:spPr>
          <a:xfrm>
            <a:off x="4029040" y="2859251"/>
            <a:ext cx="0" cy="1727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5D8E01D-C570-6CA1-5700-1A72C91CBC6C}"/>
              </a:ext>
            </a:extLst>
          </p:cNvPr>
          <p:cNvCxnSpPr/>
          <p:nvPr/>
        </p:nvCxnSpPr>
        <p:spPr>
          <a:xfrm>
            <a:off x="6190116" y="2861751"/>
            <a:ext cx="0" cy="1727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09C2CE4-6CAC-AD43-BC25-0A35E6B85513}"/>
              </a:ext>
            </a:extLst>
          </p:cNvPr>
          <p:cNvCxnSpPr/>
          <p:nvPr/>
        </p:nvCxnSpPr>
        <p:spPr>
          <a:xfrm>
            <a:off x="8246263" y="2849261"/>
            <a:ext cx="0" cy="1727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A63A24B-EB6E-16F7-B630-68C30A26D7F0}"/>
              </a:ext>
            </a:extLst>
          </p:cNvPr>
          <p:cNvCxnSpPr/>
          <p:nvPr/>
        </p:nvCxnSpPr>
        <p:spPr>
          <a:xfrm>
            <a:off x="1840482" y="2694360"/>
            <a:ext cx="0" cy="1727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944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F8CFD-2F75-A86C-B137-4A63635AE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4AB077D-88E5-30B1-351D-DBFBC04C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B17E566-1E6F-0A5C-EA5F-B10EB3B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022622B-F395-54C8-0397-61871EFE8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B97D4-E7CB-CE89-2D3B-52AAA7E01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1041210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1. Data Set &amp; Model Selection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C108D11-2D5E-4F81-80B4-FE20294C6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87C987E-0A89-8965-4D33-549C179FFA01}"/>
              </a:ext>
            </a:extLst>
          </p:cNvPr>
          <p:cNvSpPr txBox="1"/>
          <p:nvPr/>
        </p:nvSpPr>
        <p:spPr>
          <a:xfrm>
            <a:off x="644517" y="993494"/>
            <a:ext cx="1027216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Financial Fraud Detection relies on rapid querying of transactional databases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6650AA5-F0BC-0700-E67C-F32FDEB8359B}"/>
              </a:ext>
            </a:extLst>
          </p:cNvPr>
          <p:cNvSpPr/>
          <p:nvPr/>
        </p:nvSpPr>
        <p:spPr>
          <a:xfrm>
            <a:off x="3080825" y="1657350"/>
            <a:ext cx="4867421" cy="1303020"/>
          </a:xfrm>
          <a:prstGeom prst="roundRect">
            <a:avLst/>
          </a:prstGeom>
          <a:solidFill>
            <a:srgbClr val="00B0F0">
              <a:alpha val="36783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Fraud analysts at fintech organizations must translate investigative hypotheses- such as identifying velocity anomalies, geographic impossibilities, behavioral deviations etc. – into precise SQL* queries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FE83E6-A820-AF8B-AFF7-1295CE2E8F81}"/>
              </a:ext>
            </a:extLst>
          </p:cNvPr>
          <p:cNvSpPr txBox="1"/>
          <p:nvPr/>
        </p:nvSpPr>
        <p:spPr>
          <a:xfrm>
            <a:off x="3352999" y="3105388"/>
            <a:ext cx="43007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/>
              <a:t>Process is time consuming and requires technical expertise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1AB4BE46-C689-230A-54ED-B40A6A743065}"/>
              </a:ext>
            </a:extLst>
          </p:cNvPr>
          <p:cNvSpPr/>
          <p:nvPr/>
        </p:nvSpPr>
        <p:spPr>
          <a:xfrm>
            <a:off x="3080825" y="3105388"/>
            <a:ext cx="323557" cy="2923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9C0DCB91-43BE-4A04-D8AB-7D6E4CEAF4FD}"/>
              </a:ext>
            </a:extLst>
          </p:cNvPr>
          <p:cNvSpPr/>
          <p:nvPr/>
        </p:nvSpPr>
        <p:spPr>
          <a:xfrm>
            <a:off x="7595854" y="3105388"/>
            <a:ext cx="183580" cy="2923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97A181-93BD-C2AA-ADE1-5847D769348E}"/>
              </a:ext>
            </a:extLst>
          </p:cNvPr>
          <p:cNvCxnSpPr>
            <a:cxnSpLocks/>
          </p:cNvCxnSpPr>
          <p:nvPr/>
        </p:nvCxnSpPr>
        <p:spPr>
          <a:xfrm>
            <a:off x="2025748" y="3568798"/>
            <a:ext cx="8145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62E7DF-5EB0-4337-B9DD-440A889EF2C9}"/>
              </a:ext>
            </a:extLst>
          </p:cNvPr>
          <p:cNvCxnSpPr/>
          <p:nvPr/>
        </p:nvCxnSpPr>
        <p:spPr>
          <a:xfrm>
            <a:off x="2053883" y="3582865"/>
            <a:ext cx="0" cy="661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379A64-E5EB-EC1C-E953-749534A60E6A}"/>
              </a:ext>
            </a:extLst>
          </p:cNvPr>
          <p:cNvCxnSpPr/>
          <p:nvPr/>
        </p:nvCxnSpPr>
        <p:spPr>
          <a:xfrm>
            <a:off x="10140467" y="3552381"/>
            <a:ext cx="0" cy="661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4B66B82-727C-9AFE-B7CF-1EE40F824CF2}"/>
              </a:ext>
            </a:extLst>
          </p:cNvPr>
          <p:cNvSpPr/>
          <p:nvPr/>
        </p:nvSpPr>
        <p:spPr>
          <a:xfrm>
            <a:off x="410546" y="4244047"/>
            <a:ext cx="3230404" cy="1303020"/>
          </a:xfrm>
          <a:prstGeom prst="roundRect">
            <a:avLst/>
          </a:prstGeom>
          <a:solidFill>
            <a:srgbClr val="92D050">
              <a:alpha val="36783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Synthetic Text-to-SQL (</a:t>
            </a:r>
            <a:r>
              <a:rPr lang="en-US" sz="15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gretelai</a:t>
            </a: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5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synthetic_text_to_sql</a:t>
            </a: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— 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iltered for financial, insurance, cybersecurity, and legal domains most relevant to fraud risk management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9FFD07B-29BC-9239-214C-D70B0932A558}"/>
              </a:ext>
            </a:extLst>
          </p:cNvPr>
          <p:cNvSpPr/>
          <p:nvPr/>
        </p:nvSpPr>
        <p:spPr>
          <a:xfrm>
            <a:off x="8549486" y="4222826"/>
            <a:ext cx="3230404" cy="1303020"/>
          </a:xfrm>
          <a:prstGeom prst="roundRect">
            <a:avLst/>
          </a:prstGeom>
          <a:solidFill>
            <a:srgbClr val="92D050">
              <a:alpha val="36783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Qwen2-0.5B-Instruct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Compact, instruction-tuned causal language model chosen for its efficiency and suitability for parameter-efficient fine-tuning within compute constraints.</a:t>
            </a:r>
          </a:p>
        </p:txBody>
      </p:sp>
    </p:spTree>
    <p:extLst>
      <p:ext uri="{BB962C8B-B14F-4D97-AF65-F5344CB8AC3E}">
        <p14:creationId xmlns:p14="http://schemas.microsoft.com/office/powerpoint/2010/main" val="2696484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306AE-ABB7-25C5-AB20-69242FB73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81D7D5A-88A2-AAC7-8CB7-86CADE28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117AE63-3EFB-5519-A02C-4ED7FA400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65FBEFA3-7DF6-BED2-0658-2D10A2804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FB99FB1-D112-7590-C356-2E145DEB4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940715B-B5B4-3A5B-74A5-87C91D65B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735126"/>
              </p:ext>
            </p:extLst>
          </p:nvPr>
        </p:nvGraphicFramePr>
        <p:xfrm>
          <a:off x="700634" y="1589973"/>
          <a:ext cx="4974059" cy="2958917"/>
        </p:xfrm>
        <a:graphic>
          <a:graphicData uri="http://schemas.openxmlformats.org/drawingml/2006/table">
            <a:tbl>
              <a:tblPr/>
              <a:tblGrid>
                <a:gridCol w="2017340">
                  <a:extLst>
                    <a:ext uri="{9D8B030D-6E8A-4147-A177-3AD203B41FA5}">
                      <a16:colId xmlns:a16="http://schemas.microsoft.com/office/drawing/2014/main" val="3766026396"/>
                    </a:ext>
                  </a:extLst>
                </a:gridCol>
                <a:gridCol w="2956719">
                  <a:extLst>
                    <a:ext uri="{9D8B030D-6E8A-4147-A177-3AD203B41FA5}">
                      <a16:colId xmlns:a16="http://schemas.microsoft.com/office/drawing/2014/main" val="1222343335"/>
                    </a:ext>
                  </a:extLst>
                </a:gridCol>
              </a:tblGrid>
              <a:tr h="16306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ENVIRONMENT SET 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Training :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NVIDIA A100 (40GB VRAM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 via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Google Colab Pro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. 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 fixed random seed of 42 is used across all methods for fair comparison.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Both the dataset &amp; model are publicly available and require no additional authentication.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075237"/>
                  </a:ext>
                </a:extLst>
              </a:tr>
              <a:tr h="13282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DATASET PREPARATION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Synthetic Text-to-SQL dataset (Gretel AI) -&gt; 100,000 training and 5,851 test examples spanning 100 domains.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56912"/>
                  </a:ext>
                </a:extLst>
              </a:tr>
            </a:tbl>
          </a:graphicData>
        </a:graphic>
      </p:graphicFrame>
      <p:sp>
        <p:nvSpPr>
          <p:cNvPr id="11" name="Left Brace 10">
            <a:extLst>
              <a:ext uri="{FF2B5EF4-FFF2-40B4-BE49-F238E27FC236}">
                <a16:creationId xmlns:a16="http://schemas.microsoft.com/office/drawing/2014/main" id="{1EB47F5D-D59A-0664-9A23-90D7C0DE1947}"/>
              </a:ext>
            </a:extLst>
          </p:cNvPr>
          <p:cNvSpPr/>
          <p:nvPr/>
        </p:nvSpPr>
        <p:spPr>
          <a:xfrm>
            <a:off x="6435524" y="2504756"/>
            <a:ext cx="300532" cy="1676593"/>
          </a:xfrm>
          <a:prstGeom prst="leftBrac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9F09E22-ECA2-D3AC-6E52-F54692263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423295"/>
              </p:ext>
            </p:extLst>
          </p:nvPr>
        </p:nvGraphicFramePr>
        <p:xfrm>
          <a:off x="6736056" y="1934746"/>
          <a:ext cx="4861777" cy="2595075"/>
        </p:xfrm>
        <a:graphic>
          <a:graphicData uri="http://schemas.openxmlformats.org/drawingml/2006/table">
            <a:tbl>
              <a:tblPr/>
              <a:tblGrid>
                <a:gridCol w="2245898">
                  <a:extLst>
                    <a:ext uri="{9D8B030D-6E8A-4147-A177-3AD203B41FA5}">
                      <a16:colId xmlns:a16="http://schemas.microsoft.com/office/drawing/2014/main" val="742968515"/>
                    </a:ext>
                  </a:extLst>
                </a:gridCol>
                <a:gridCol w="2615879">
                  <a:extLst>
                    <a:ext uri="{9D8B030D-6E8A-4147-A177-3AD203B41FA5}">
                      <a16:colId xmlns:a16="http://schemas.microsoft.com/office/drawing/2014/main" val="2729187487"/>
                    </a:ext>
                  </a:extLst>
                </a:gridCol>
              </a:tblGrid>
              <a:tr h="24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Domain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Details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888980"/>
                  </a:ext>
                </a:extLst>
              </a:tr>
              <a:tr h="3260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Finance &amp; Financial Services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Transaction Analysis, Portfolio risk, customer profiling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06395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Insurance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claims investigation, risk scoring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662218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Cybersecurity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anomaly detection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338979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Legal Services &amp; Justice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case investigation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22232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Blockchain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Transaction tracing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069674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Public Safety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incident reporting, emergency response tracking, threat pattern analysis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731251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Venture Capital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Portfolio monitoring, due diligence queries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110536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Social Impact Investing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ESG* scoring, Impact measurement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616065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4F26C6-25A6-7CEE-4E62-8DFE86E7945E}"/>
              </a:ext>
            </a:extLst>
          </p:cNvPr>
          <p:cNvCxnSpPr/>
          <p:nvPr/>
        </p:nvCxnSpPr>
        <p:spPr>
          <a:xfrm>
            <a:off x="5753540" y="3454652"/>
            <a:ext cx="7839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0580B35-4A51-083C-AE09-1418BAFE3371}"/>
              </a:ext>
            </a:extLst>
          </p:cNvPr>
          <p:cNvSpPr txBox="1"/>
          <p:nvPr/>
        </p:nvSpPr>
        <p:spPr>
          <a:xfrm>
            <a:off x="5787791" y="2504755"/>
            <a:ext cx="69616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Filtered for 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Fraud Risk 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domain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C06EDCB-21F6-4BFC-A50B-6C769E8558BA}"/>
              </a:ext>
            </a:extLst>
          </p:cNvPr>
          <p:cNvCxnSpPr/>
          <p:nvPr/>
        </p:nvCxnSpPr>
        <p:spPr>
          <a:xfrm>
            <a:off x="8935656" y="4182801"/>
            <a:ext cx="0" cy="555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DF796E05-82AE-0079-EADE-9EFA003F7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472" y="4852686"/>
            <a:ext cx="2858944" cy="7639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8A69945-DB48-F940-8B9A-87539D0F49C2}"/>
              </a:ext>
            </a:extLst>
          </p:cNvPr>
          <p:cNvSpPr txBox="1"/>
          <p:nvPr/>
        </p:nvSpPr>
        <p:spPr>
          <a:xfrm>
            <a:off x="700634" y="6341124"/>
            <a:ext cx="63483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Note: Refer Appendix for detailed distribution of domain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*ESG: Environmental, Social and Governance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F24DBB-23AE-79B4-C9D7-A7329B67447E}"/>
              </a:ext>
            </a:extLst>
          </p:cNvPr>
          <p:cNvSpPr txBox="1">
            <a:spLocks/>
          </p:cNvSpPr>
          <p:nvPr/>
        </p:nvSpPr>
        <p:spPr>
          <a:xfrm>
            <a:off x="812157" y="35394"/>
            <a:ext cx="10412103" cy="14274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1. Data Set &amp; Model Selection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E92752-AF00-9B84-B17E-24861D66A9E3}"/>
              </a:ext>
            </a:extLst>
          </p:cNvPr>
          <p:cNvSpPr txBox="1"/>
          <p:nvPr/>
        </p:nvSpPr>
        <p:spPr>
          <a:xfrm>
            <a:off x="720707" y="916249"/>
            <a:ext cx="1027216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Domain Filtering ensures the model learns SQL patterns most applicable to Fraud Investigation</a:t>
            </a:r>
          </a:p>
        </p:txBody>
      </p:sp>
    </p:spTree>
    <p:extLst>
      <p:ext uri="{BB962C8B-B14F-4D97-AF65-F5344CB8AC3E}">
        <p14:creationId xmlns:p14="http://schemas.microsoft.com/office/powerpoint/2010/main" val="403562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BD899-7486-B227-90B3-3DAEF224C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F544F3F-B3BA-1C34-BA75-A13468A2D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B54435A-B369-167E-D4BB-816ADFEC3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9C28151-A023-060D-254C-3789FE21A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0DBA8-5253-20F7-BD26-5174A84E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564579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2.MODEL FINE-TUNING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B0F4CEB-A76F-0A2F-DE8B-3B03B3DFE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65D9761-049E-2782-2472-E59A05B629C7}"/>
              </a:ext>
            </a:extLst>
          </p:cNvPr>
          <p:cNvSpPr txBox="1"/>
          <p:nvPr/>
        </p:nvSpPr>
        <p:spPr>
          <a:xfrm>
            <a:off x="7227220" y="6291633"/>
            <a:ext cx="4164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Note: Refer appendix for detailed list of Hyperparameters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ED0645-A899-DAA4-A6FE-A87040A1C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001289"/>
              </p:ext>
            </p:extLst>
          </p:nvPr>
        </p:nvGraphicFramePr>
        <p:xfrm>
          <a:off x="906780" y="1245869"/>
          <a:ext cx="9602883" cy="4972023"/>
        </p:xfrm>
        <a:graphic>
          <a:graphicData uri="http://schemas.openxmlformats.org/drawingml/2006/table">
            <a:tbl>
              <a:tblPr firstRow="1" bandRow="1"/>
              <a:tblGrid>
                <a:gridCol w="537233">
                  <a:extLst>
                    <a:ext uri="{9D8B030D-6E8A-4147-A177-3AD203B41FA5}">
                      <a16:colId xmlns:a16="http://schemas.microsoft.com/office/drawing/2014/main" val="1757132160"/>
                    </a:ext>
                  </a:extLst>
                </a:gridCol>
                <a:gridCol w="1481565">
                  <a:extLst>
                    <a:ext uri="{9D8B030D-6E8A-4147-A177-3AD203B41FA5}">
                      <a16:colId xmlns:a16="http://schemas.microsoft.com/office/drawing/2014/main" val="3289073913"/>
                    </a:ext>
                  </a:extLst>
                </a:gridCol>
                <a:gridCol w="1472420">
                  <a:extLst>
                    <a:ext uri="{9D8B030D-6E8A-4147-A177-3AD203B41FA5}">
                      <a16:colId xmlns:a16="http://schemas.microsoft.com/office/drawing/2014/main" val="1262776490"/>
                    </a:ext>
                  </a:extLst>
                </a:gridCol>
                <a:gridCol w="5019134">
                  <a:extLst>
                    <a:ext uri="{9D8B030D-6E8A-4147-A177-3AD203B41FA5}">
                      <a16:colId xmlns:a16="http://schemas.microsoft.com/office/drawing/2014/main" val="3951203680"/>
                    </a:ext>
                  </a:extLst>
                </a:gridCol>
                <a:gridCol w="1092531">
                  <a:extLst>
                    <a:ext uri="{9D8B030D-6E8A-4147-A177-3AD203B41FA5}">
                      <a16:colId xmlns:a16="http://schemas.microsoft.com/office/drawing/2014/main" val="3372845447"/>
                    </a:ext>
                  </a:extLst>
                </a:gridCol>
              </a:tblGrid>
              <a:tr h="3718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Sl</a:t>
                      </a: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No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METHOD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TRAINABLE PARAMETERS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RUNTIME(A100)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24969"/>
                  </a:ext>
                </a:extLst>
              </a:tr>
              <a:tr h="8633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Fine Tuning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494 M parameters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This is the most computationally expensive approach but serves as our performance ceiling. We use fp32 precision to ensure gradient stability — mixed precision (fp16) causes gradient scaling errors when all parameters are being updated simultaneously. Gradient checkpointing is enabled to manage VRAM usage.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~35 minutes 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038120"/>
                  </a:ext>
                </a:extLst>
              </a:tr>
              <a:tr h="11909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LoRA(Low-Rank Adaptation)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8.8M(1.75%)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LoRA injects trainable low-rank decomposition matrices into the attention and MLP layers, freezing the original weights. 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key insight is that model adaptations during fine-tuning have a low intrinsic rank. Rather than updating the full weight matrix W, LoRA learns two smaller matrices A and B such that the update </a:t>
                      </a:r>
                      <a:r>
                        <a:rPr lang="el-G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Δ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 = BA, where the rank of BA is at most r=16.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~10 mins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23094"/>
                  </a:ext>
                </a:extLst>
              </a:tr>
              <a:tr h="8633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QLoRA (Quantized LoRA)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8.8M(1.75%)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QLoRA combines 4-bit quantization of the base model with LoRA adapters, dramatically reducing memory requirements. </a:t>
                      </a: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This approach enables fine-tuning of models that would otherwise not fit in GPU memory, making it particularly valuable for deployment in resource-constrained environments — relevant for fintech organizations running inference on-premise.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~10 mins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313591"/>
                  </a:ext>
                </a:extLst>
              </a:tr>
              <a:tr h="16824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61K (0.012%)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 prepends a small set of learnable "virtual tokens" to the input sequence, steering the frozen model's behavior without modifying any weights. With 10 virtual tokens, only 61,440 parameters are trained — 0.012% of the model.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This approach is fundamentally different from LoRA — rather than adapting the model's internal representations, it learns a task-specific prompt in the embedding space. While extremely parameter-efficient, its capacity is severely limited for tasks requiring precise structured output like SQL generation.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~10 mins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6703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5011840-5A74-5A9F-614E-0435BC7A67B7}"/>
              </a:ext>
            </a:extLst>
          </p:cNvPr>
          <p:cNvSpPr txBox="1"/>
          <p:nvPr/>
        </p:nvSpPr>
        <p:spPr>
          <a:xfrm>
            <a:off x="800100" y="872752"/>
            <a:ext cx="1027216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Below are the details corresponding to each Training method used</a:t>
            </a:r>
          </a:p>
        </p:txBody>
      </p:sp>
    </p:spTree>
    <p:extLst>
      <p:ext uri="{BB962C8B-B14F-4D97-AF65-F5344CB8AC3E}">
        <p14:creationId xmlns:p14="http://schemas.microsoft.com/office/powerpoint/2010/main" val="3894426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4A129-7E95-2A18-3D67-B4605F4C3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F6F55FF-3F92-4D81-F25C-19DEAF9BD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F8F936F-2C6A-78E7-552F-411BAA66C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B79F24F8-831F-0AD0-26FA-B20537C9C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FB04C-D261-17C9-8D10-308E4E12B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564579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3.EVALUATION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87D68F0-4956-BB35-F65E-757ECCCA2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28597E9-A5A3-B3FE-0FF9-70B718772D0A}"/>
              </a:ext>
            </a:extLst>
          </p:cNvPr>
          <p:cNvSpPr txBox="1"/>
          <p:nvPr/>
        </p:nvSpPr>
        <p:spPr>
          <a:xfrm>
            <a:off x="800100" y="872752"/>
            <a:ext cx="1027216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Evaluation was carried out across the 4 dimensions as shown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0AD2E77-397D-633D-3B2E-A0BC8A70D567}"/>
              </a:ext>
            </a:extLst>
          </p:cNvPr>
          <p:cNvSpPr/>
          <p:nvPr/>
        </p:nvSpPr>
        <p:spPr>
          <a:xfrm>
            <a:off x="1623060" y="1462879"/>
            <a:ext cx="3337560" cy="2263293"/>
          </a:xfrm>
          <a:prstGeom prst="roundRect">
            <a:avLst/>
          </a:prstGeom>
          <a:solidFill>
            <a:srgbClr val="00B0F0">
              <a:alpha val="3058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Training Loss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EE66A84-553C-C4F4-2EAE-E6765B598653}"/>
              </a:ext>
            </a:extLst>
          </p:cNvPr>
          <p:cNvSpPr/>
          <p:nvPr/>
        </p:nvSpPr>
        <p:spPr>
          <a:xfrm>
            <a:off x="5238750" y="1429139"/>
            <a:ext cx="3337560" cy="2263293"/>
          </a:xfrm>
          <a:prstGeom prst="roundRect">
            <a:avLst/>
          </a:prstGeom>
          <a:solidFill>
            <a:srgbClr val="00B0F0">
              <a:alpha val="3058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Similarity Metrics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(BLEU, ROUGE-1/2/L, METEOR, GLEU, CoSIM, BERT Score)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3D2DD7-B7C7-8342-3A52-5053FFEE1762}"/>
              </a:ext>
            </a:extLst>
          </p:cNvPr>
          <p:cNvSpPr/>
          <p:nvPr/>
        </p:nvSpPr>
        <p:spPr>
          <a:xfrm>
            <a:off x="1661160" y="3924139"/>
            <a:ext cx="3337560" cy="2263293"/>
          </a:xfrm>
          <a:prstGeom prst="roundRect">
            <a:avLst/>
          </a:prstGeom>
          <a:solidFill>
            <a:srgbClr val="00B0F0">
              <a:alpha val="3058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Quality Metrics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(Repetition rate, Flesch Reading Ease, Toxicity, Novelty, Diversity)</a:t>
            </a:r>
            <a:endParaRPr lang="en-US" sz="15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DD91A48-A1FB-6199-194E-E3894647F19F}"/>
              </a:ext>
            </a:extLst>
          </p:cNvPr>
          <p:cNvSpPr/>
          <p:nvPr/>
        </p:nvSpPr>
        <p:spPr>
          <a:xfrm>
            <a:off x="5276850" y="3890399"/>
            <a:ext cx="3337560" cy="2263293"/>
          </a:xfrm>
          <a:prstGeom prst="roundRect">
            <a:avLst/>
          </a:prstGeom>
          <a:solidFill>
            <a:srgbClr val="00B0F0">
              <a:alpha val="3058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Qualitative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7D34F6-CEA3-63C6-688F-6F1C5F2DED9D}"/>
              </a:ext>
            </a:extLst>
          </p:cNvPr>
          <p:cNvCxnSpPr>
            <a:cxnSpLocks/>
          </p:cNvCxnSpPr>
          <p:nvPr/>
        </p:nvCxnSpPr>
        <p:spPr>
          <a:xfrm>
            <a:off x="5076825" y="1278056"/>
            <a:ext cx="43815" cy="5013577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724969-7245-A5B6-87B0-B1221FC6599A}"/>
              </a:ext>
            </a:extLst>
          </p:cNvPr>
          <p:cNvCxnSpPr>
            <a:cxnSpLocks/>
          </p:cNvCxnSpPr>
          <p:nvPr/>
        </p:nvCxnSpPr>
        <p:spPr>
          <a:xfrm>
            <a:off x="1233174" y="3784844"/>
            <a:ext cx="7556991" cy="0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592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4BA5A-2E08-ED9B-36DA-4DA50E74D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5B5BFD7-C36E-3C5B-BC73-F839680F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3AE6D0A-8A2B-0DED-02AD-E6ED754C5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371D287-CA0B-1355-9B60-2D24194CD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7AFBBA-1E3D-4C12-6FE3-DDFA14D93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564579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3.EVALUATION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0F803E0-36A3-180E-9D26-B72A772CA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4260F33-12C2-AAF5-BEB6-AEF0D5A1ED20}"/>
              </a:ext>
            </a:extLst>
          </p:cNvPr>
          <p:cNvSpPr txBox="1"/>
          <p:nvPr/>
        </p:nvSpPr>
        <p:spPr>
          <a:xfrm>
            <a:off x="785210" y="945317"/>
            <a:ext cx="9196990" cy="415498"/>
          </a:xfrm>
          <a:prstGeom prst="rect">
            <a:avLst/>
          </a:prstGeom>
          <a:solidFill>
            <a:srgbClr val="007DD6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TRAINING LOSS: LoRA &amp; QLoRA converge fastest; Prefix Tuning lags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645CDC-ACFC-411E-1C11-492055501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10" y="1447801"/>
            <a:ext cx="9196990" cy="319145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50800" dir="5400000" algn="ctr" rotWithShape="0">
              <a:srgbClr val="000000">
                <a:alpha val="87000"/>
              </a:srgbClr>
            </a:outerShdw>
            <a:softEdge rad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14F0B6-69F2-FF88-A263-7AA2C0D78C95}"/>
              </a:ext>
            </a:extLst>
          </p:cNvPr>
          <p:cNvSpPr txBox="1"/>
          <p:nvPr/>
        </p:nvSpPr>
        <p:spPr>
          <a:xfrm>
            <a:off x="5296395" y="6291633"/>
            <a:ext cx="6095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Note: Prefix Tuning shown separately because it starts at a much higher value of &gt;6.5 vs the other 3</a:t>
            </a:r>
            <a:r>
              <a:rPr lang="en-US" dirty="0"/>
              <a:t>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A719EB-6763-7606-E26A-F40E7AF1FE28}"/>
              </a:ext>
            </a:extLst>
          </p:cNvPr>
          <p:cNvSpPr/>
          <p:nvPr/>
        </p:nvSpPr>
        <p:spPr>
          <a:xfrm>
            <a:off x="812157" y="5097003"/>
            <a:ext cx="9170043" cy="1194630"/>
          </a:xfrm>
          <a:prstGeom prst="roundRect">
            <a:avLst/>
          </a:prstGeom>
          <a:solidFill>
            <a:srgbClr val="00B0F0">
              <a:alpha val="2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 FT: </a:t>
            </a: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Starts with the highest loss and converges the slowest(494M parameters</a:t>
            </a:r>
            <a:r>
              <a:rPr lang="en-US" sz="125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 &amp;QLoRA: </a:t>
            </a: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Drop sharply in the first 200 steps and then converge by step 200 onwards(Fewer parameters to optimize), while Full FT descends more gradually and continues improving through the full epoch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Prefix Tuning: </a:t>
            </a: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Starts at a much higher loss, descends steeply and shows healthy learning- and ends still far above the others</a:t>
            </a:r>
          </a:p>
        </p:txBody>
      </p:sp>
    </p:spTree>
    <p:extLst>
      <p:ext uri="{BB962C8B-B14F-4D97-AF65-F5344CB8AC3E}">
        <p14:creationId xmlns:p14="http://schemas.microsoft.com/office/powerpoint/2010/main" val="3396960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8890D-9B7A-B74C-BBD6-DADCE7262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021C7D4-5259-8E1D-8C8F-73C86702F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CD07A07-A0B7-47B1-2AA7-59A603534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5D0A649-117C-EF22-06C9-71F07B961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EEE8A-F527-1768-4E97-E78A3DA7D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444564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3.EVALUATION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1EB265B-D71A-76D9-3F35-7BD06BC3B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996CF3-0EEE-44F3-FB01-F6F6B7AF9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068591"/>
              </p:ext>
            </p:extLst>
          </p:nvPr>
        </p:nvGraphicFramePr>
        <p:xfrm>
          <a:off x="812155" y="1397020"/>
          <a:ext cx="8743315" cy="2161460"/>
        </p:xfrm>
        <a:graphic>
          <a:graphicData uri="http://schemas.openxmlformats.org/drawingml/2006/table">
            <a:tbl>
              <a:tblPr firstRow="1" bandRow="1"/>
              <a:tblGrid>
                <a:gridCol w="989668">
                  <a:extLst>
                    <a:ext uri="{9D8B030D-6E8A-4147-A177-3AD203B41FA5}">
                      <a16:colId xmlns:a16="http://schemas.microsoft.com/office/drawing/2014/main" val="1757132160"/>
                    </a:ext>
                  </a:extLst>
                </a:gridCol>
                <a:gridCol w="1105941">
                  <a:extLst>
                    <a:ext uri="{9D8B030D-6E8A-4147-A177-3AD203B41FA5}">
                      <a16:colId xmlns:a16="http://schemas.microsoft.com/office/drawing/2014/main" val="3289073913"/>
                    </a:ext>
                  </a:extLst>
                </a:gridCol>
                <a:gridCol w="1528443">
                  <a:extLst>
                    <a:ext uri="{9D8B030D-6E8A-4147-A177-3AD203B41FA5}">
                      <a16:colId xmlns:a16="http://schemas.microsoft.com/office/drawing/2014/main" val="1262776490"/>
                    </a:ext>
                  </a:extLst>
                </a:gridCol>
                <a:gridCol w="5119263">
                  <a:extLst>
                    <a:ext uri="{9D8B030D-6E8A-4147-A177-3AD203B41FA5}">
                      <a16:colId xmlns:a16="http://schemas.microsoft.com/office/drawing/2014/main" val="3951203680"/>
                    </a:ext>
                  </a:extLst>
                </a:gridCol>
              </a:tblGrid>
              <a:tr h="5817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Sl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No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METHOD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TRAINABLE PARAMETERS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24969"/>
                  </a:ext>
                </a:extLst>
              </a:tr>
              <a:tr h="263285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Similarity to Reference SQL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BLEU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n-gram precision against reference (standard MT metric)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038120"/>
                  </a:ext>
                </a:extLst>
              </a:tr>
              <a:tr h="281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ROUGE-1/2/L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recall-oriented overlap at unigram, bigram, and longest common subsequence level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013363"/>
                  </a:ext>
                </a:extLst>
              </a:tr>
              <a:tr h="2095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METEOR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Alignment based metric accounting for synonyms and stemming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197463"/>
                  </a:ext>
                </a:extLst>
              </a:tr>
              <a:tr h="2274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GLEU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Sentence-level BLEU variant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100904"/>
                  </a:ext>
                </a:extLst>
              </a:tr>
              <a:tr h="2453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CoSIM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Semantic Cosine similarity using sentence embeddings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906097"/>
                  </a:ext>
                </a:extLst>
              </a:tr>
              <a:tr h="2632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BERT Score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Contextual embedding similarity using RoBERTa-large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94110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3B6211-CA05-E1C2-C33F-60FB4B9BC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486260"/>
              </p:ext>
            </p:extLst>
          </p:nvPr>
        </p:nvGraphicFramePr>
        <p:xfrm>
          <a:off x="812156" y="4761866"/>
          <a:ext cx="8743324" cy="1016000"/>
        </p:xfrm>
        <a:graphic>
          <a:graphicData uri="http://schemas.openxmlformats.org/drawingml/2006/table">
            <a:tbl>
              <a:tblPr/>
              <a:tblGrid>
                <a:gridCol w="1313100">
                  <a:extLst>
                    <a:ext uri="{9D8B030D-6E8A-4147-A177-3AD203B41FA5}">
                      <a16:colId xmlns:a16="http://schemas.microsoft.com/office/drawing/2014/main" val="2422862587"/>
                    </a:ext>
                  </a:extLst>
                </a:gridCol>
                <a:gridCol w="928778">
                  <a:extLst>
                    <a:ext uri="{9D8B030D-6E8A-4147-A177-3AD203B41FA5}">
                      <a16:colId xmlns:a16="http://schemas.microsoft.com/office/drawing/2014/main" val="2309554499"/>
                    </a:ext>
                  </a:extLst>
                </a:gridCol>
                <a:gridCol w="928778">
                  <a:extLst>
                    <a:ext uri="{9D8B030D-6E8A-4147-A177-3AD203B41FA5}">
                      <a16:colId xmlns:a16="http://schemas.microsoft.com/office/drawing/2014/main" val="879245869"/>
                    </a:ext>
                  </a:extLst>
                </a:gridCol>
                <a:gridCol w="928778">
                  <a:extLst>
                    <a:ext uri="{9D8B030D-6E8A-4147-A177-3AD203B41FA5}">
                      <a16:colId xmlns:a16="http://schemas.microsoft.com/office/drawing/2014/main" val="4131679780"/>
                    </a:ext>
                  </a:extLst>
                </a:gridCol>
                <a:gridCol w="928778">
                  <a:extLst>
                    <a:ext uri="{9D8B030D-6E8A-4147-A177-3AD203B41FA5}">
                      <a16:colId xmlns:a16="http://schemas.microsoft.com/office/drawing/2014/main" val="4226941879"/>
                    </a:ext>
                  </a:extLst>
                </a:gridCol>
                <a:gridCol w="928778">
                  <a:extLst>
                    <a:ext uri="{9D8B030D-6E8A-4147-A177-3AD203B41FA5}">
                      <a16:colId xmlns:a16="http://schemas.microsoft.com/office/drawing/2014/main" val="4240858063"/>
                    </a:ext>
                  </a:extLst>
                </a:gridCol>
                <a:gridCol w="928778">
                  <a:extLst>
                    <a:ext uri="{9D8B030D-6E8A-4147-A177-3AD203B41FA5}">
                      <a16:colId xmlns:a16="http://schemas.microsoft.com/office/drawing/2014/main" val="3791116885"/>
                    </a:ext>
                  </a:extLst>
                </a:gridCol>
                <a:gridCol w="928778">
                  <a:extLst>
                    <a:ext uri="{9D8B030D-6E8A-4147-A177-3AD203B41FA5}">
                      <a16:colId xmlns:a16="http://schemas.microsoft.com/office/drawing/2014/main" val="175314755"/>
                    </a:ext>
                  </a:extLst>
                </a:gridCol>
                <a:gridCol w="928778">
                  <a:extLst>
                    <a:ext uri="{9D8B030D-6E8A-4147-A177-3AD203B41FA5}">
                      <a16:colId xmlns:a16="http://schemas.microsoft.com/office/drawing/2014/main" val="148816548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BLEU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ROUGE-1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ROUGE-2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ROUGE-L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METEOR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GLEU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CoSIM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BERT Score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663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Full FT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0.4759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0.8121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0.6890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0.7833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0.7035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0.4676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0.9323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0.9565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86373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LoRA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0.4533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0.8129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0.6780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0.7789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0.6972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0.4515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0.9317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0.9555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4726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QLoRA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0.4501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0.8032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0.6687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0.7684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0.6847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0.4407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0.9287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0.9538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8729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Prefix Tuning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Helvetica Neue" panose="02000503000000020004" pitchFamily="2" charset="0"/>
                        </a:rPr>
                        <a:t>0.0005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Helvetica Neue" panose="02000503000000020004" pitchFamily="2" charset="0"/>
                        </a:rPr>
                        <a:t>0.0883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C00000"/>
                          </a:solidFill>
                          <a:effectLst/>
                          <a:latin typeface="Helvetica Neue" panose="02000503000000020004" pitchFamily="2" charset="0"/>
                        </a:rPr>
                        <a:t>0.0119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Helvetica Neue" panose="02000503000000020004" pitchFamily="2" charset="0"/>
                        </a:rPr>
                        <a:t>0.0764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Helvetica Neue" panose="02000503000000020004" pitchFamily="2" charset="0"/>
                        </a:rPr>
                        <a:t>0.0329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Helvetica Neue" panose="02000503000000020004" pitchFamily="2" charset="0"/>
                        </a:rPr>
                        <a:t>0.0043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C00000"/>
                          </a:solidFill>
                          <a:effectLst/>
                          <a:latin typeface="Helvetica Neue" panose="02000503000000020004" pitchFamily="2" charset="0"/>
                        </a:rPr>
                        <a:t>0.3029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Helvetica Neue" panose="02000503000000020004" pitchFamily="2" charset="0"/>
                        </a:rPr>
                        <a:t>0.7623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333101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7BA66E-5725-9FD2-15A4-4AF6E3CB123C}"/>
              </a:ext>
            </a:extLst>
          </p:cNvPr>
          <p:cNvCxnSpPr>
            <a:cxnSpLocks/>
          </p:cNvCxnSpPr>
          <p:nvPr/>
        </p:nvCxnSpPr>
        <p:spPr>
          <a:xfrm>
            <a:off x="5040630" y="3558480"/>
            <a:ext cx="0" cy="1139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4B06A6-F168-F262-201B-A1933A8BA215}"/>
              </a:ext>
            </a:extLst>
          </p:cNvPr>
          <p:cNvSpPr txBox="1"/>
          <p:nvPr/>
        </p:nvSpPr>
        <p:spPr>
          <a:xfrm>
            <a:off x="720707" y="916249"/>
            <a:ext cx="1027216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Similarity Metrics show LoRA and QLoRA achieve near-parity with Full FT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34881-FB0A-7E71-378D-050D5E4C6D30}"/>
              </a:ext>
            </a:extLst>
          </p:cNvPr>
          <p:cNvSpPr txBox="1"/>
          <p:nvPr/>
        </p:nvSpPr>
        <p:spPr>
          <a:xfrm>
            <a:off x="961901" y="6142781"/>
            <a:ext cx="6095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Note: Next page shows detailed chart-based view across all these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789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DFEC5-40A7-B23C-7C74-64649EAC2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0AABB-31B0-4F51-BE35-599FE0C39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564579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3.EVALUATION 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647F2E-290C-30DD-88A0-508A2003F7E3}"/>
              </a:ext>
            </a:extLst>
          </p:cNvPr>
          <p:cNvSpPr txBox="1"/>
          <p:nvPr/>
        </p:nvSpPr>
        <p:spPr>
          <a:xfrm>
            <a:off x="998219" y="911578"/>
            <a:ext cx="8618095" cy="369332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SIMILARITY METRICS – LoRA and QLoRA achieve near-parity with Full Fine tuning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9DF799-A9B9-376B-68E4-443DB4D51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" y="1280910"/>
            <a:ext cx="8618095" cy="275006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3956"/>
              </a:srgbClr>
            </a:outerShdw>
          </a:effec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60A2E8-CF8C-15D7-1765-990C87781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343740"/>
              </p:ext>
            </p:extLst>
          </p:nvPr>
        </p:nvGraphicFramePr>
        <p:xfrm>
          <a:off x="692458" y="4077140"/>
          <a:ext cx="10691813" cy="2017323"/>
        </p:xfrm>
        <a:graphic>
          <a:graphicData uri="http://schemas.openxmlformats.org/drawingml/2006/table">
            <a:tbl>
              <a:tblPr/>
              <a:tblGrid>
                <a:gridCol w="1536663">
                  <a:extLst>
                    <a:ext uri="{9D8B030D-6E8A-4147-A177-3AD203B41FA5}">
                      <a16:colId xmlns:a16="http://schemas.microsoft.com/office/drawing/2014/main" val="3239603734"/>
                    </a:ext>
                  </a:extLst>
                </a:gridCol>
                <a:gridCol w="1411809">
                  <a:extLst>
                    <a:ext uri="{9D8B030D-6E8A-4147-A177-3AD203B41FA5}">
                      <a16:colId xmlns:a16="http://schemas.microsoft.com/office/drawing/2014/main" val="2209034455"/>
                    </a:ext>
                  </a:extLst>
                </a:gridCol>
                <a:gridCol w="1421413">
                  <a:extLst>
                    <a:ext uri="{9D8B030D-6E8A-4147-A177-3AD203B41FA5}">
                      <a16:colId xmlns:a16="http://schemas.microsoft.com/office/drawing/2014/main" val="3115214716"/>
                    </a:ext>
                  </a:extLst>
                </a:gridCol>
                <a:gridCol w="1577481">
                  <a:extLst>
                    <a:ext uri="{9D8B030D-6E8A-4147-A177-3AD203B41FA5}">
                      <a16:colId xmlns:a16="http://schemas.microsoft.com/office/drawing/2014/main" val="872977909"/>
                    </a:ext>
                  </a:extLst>
                </a:gridCol>
                <a:gridCol w="1806946">
                  <a:extLst>
                    <a:ext uri="{9D8B030D-6E8A-4147-A177-3AD203B41FA5}">
                      <a16:colId xmlns:a16="http://schemas.microsoft.com/office/drawing/2014/main" val="214933356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1146626144"/>
                    </a:ext>
                  </a:extLst>
                </a:gridCol>
                <a:gridCol w="1485891">
                  <a:extLst>
                    <a:ext uri="{9D8B030D-6E8A-4147-A177-3AD203B41FA5}">
                      <a16:colId xmlns:a16="http://schemas.microsoft.com/office/drawing/2014/main" val="991728222"/>
                    </a:ext>
                  </a:extLst>
                </a:gridCol>
              </a:tblGrid>
              <a:tr h="5475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BLEU</a:t>
                      </a:r>
                      <a:b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(n-gram overlap)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ROUGE-1</a:t>
                      </a:r>
                      <a:b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(unigram overlap)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ROUGE-2</a:t>
                      </a:r>
                      <a:b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(Bigram Overlap)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ROUGE-L</a:t>
                      </a:r>
                      <a:b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(Longest common subsequence)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METEOR</a:t>
                      </a:r>
                      <a:b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(outputs vary across examples)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CoSIM</a:t>
                      </a:r>
                      <a:b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(outputs vary across examples)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BERT Score</a:t>
                      </a:r>
                      <a:b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(outputs vary across examples)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156683"/>
                  </a:ext>
                </a:extLst>
              </a:tr>
              <a:tr h="14697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 leads slightly with LoRA/QLoRA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close behind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(~0.45-0.48)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-&gt;near 0, not generating SQL tokens as expected</a:t>
                      </a: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unigram overlap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FT/LoRA/QLoRA-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&gt;score high because SQL words (SELECT, FROM, WHERE) (~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0.80-0.81)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appear consistently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-&gt;0.088- confirms failure to generate SQL tokens</a:t>
                      </a: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FT/LoRA/QLoRA-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&gt;Slightly lower than ROUGE-1 because exact 2-word sequences are hard to match, but still strong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(~0.67-0.69)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-&gt;Collapses to ~0.01</a:t>
                      </a: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FT/LoRA/QLoRA-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&gt;high scores here  indicate clause ordering-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(~0.77-0.78)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-&gt;  near 0 score -, it fails to produce right sequence</a:t>
                      </a: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FT/LoRA/QLoRA-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 Full FT leads - with QLoRA slightly behind LoRA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(~0.69-0.71)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-&gt;  near 0 score - indicates task level failure</a:t>
                      </a: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FT/LoRA/QLoRA-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&gt;All  score high, generating SQL semantically equal to the reference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(~0.92-0.93)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-&gt;0.30- generating semantically unrelated SQL queries</a:t>
                      </a: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FT/LoRA/QLoRA-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&gt;near perfect scores indicate the models are generating  SQL that are very close to the reference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(~0.95-0.96)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-&gt;0.76- one of its best results across, still well below other methods</a:t>
                      </a:r>
                    </a:p>
                  </a:txBody>
                  <a:tcPr marL="7205" marR="7205" marT="720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646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720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9B5006-B5EC-A49A-5F36-7F8A8FA6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27FF16C-BFA3-A53B-702A-F206A1A8B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25C1AE7-4972-3623-90CB-EA59BF5AF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4AA67EC-18F4-AA21-FFDE-95690D734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B248B-149A-90BE-5876-30B552ED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3226443" cy="142748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3.EVALUATION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1179DAD-156A-E1A3-CF74-882114D2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FC4E37-95FC-3395-1145-B51BCB7BD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284423"/>
              </p:ext>
            </p:extLst>
          </p:nvPr>
        </p:nvGraphicFramePr>
        <p:xfrm>
          <a:off x="812155" y="1179850"/>
          <a:ext cx="7691765" cy="1443281"/>
        </p:xfrm>
        <a:graphic>
          <a:graphicData uri="http://schemas.openxmlformats.org/drawingml/2006/table">
            <a:tbl>
              <a:tblPr firstRow="1" bandRow="1"/>
              <a:tblGrid>
                <a:gridCol w="810905">
                  <a:extLst>
                    <a:ext uri="{9D8B030D-6E8A-4147-A177-3AD203B41FA5}">
                      <a16:colId xmlns:a16="http://schemas.microsoft.com/office/drawing/2014/main" val="175713216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3289073913"/>
                    </a:ext>
                  </a:extLst>
                </a:gridCol>
                <a:gridCol w="1588770">
                  <a:extLst>
                    <a:ext uri="{9D8B030D-6E8A-4147-A177-3AD203B41FA5}">
                      <a16:colId xmlns:a16="http://schemas.microsoft.com/office/drawing/2014/main" val="126277649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3951203680"/>
                    </a:ext>
                  </a:extLst>
                </a:gridCol>
              </a:tblGrid>
              <a:tr h="5817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Sl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No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METHOD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TRAINABLE PARAMETERS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24969"/>
                  </a:ext>
                </a:extLst>
              </a:tr>
              <a:tr h="263285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Output quality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Repetition Rate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Indicative of repeated tokens (is SQL structurally concise)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038120"/>
                  </a:ext>
                </a:extLst>
              </a:tr>
              <a:tr h="3349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Flesch Reading Ease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Readability score(higher= more readable; lower expected for SQL)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013363"/>
                  </a:ext>
                </a:extLst>
              </a:tr>
              <a:tr h="2632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Toxicity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Does SQL contain offensive words?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19746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C609E0-6EE4-5699-F1AD-5573BF2CC917}"/>
              </a:ext>
            </a:extLst>
          </p:cNvPr>
          <p:cNvCxnSpPr>
            <a:cxnSpLocks/>
          </p:cNvCxnSpPr>
          <p:nvPr/>
        </p:nvCxnSpPr>
        <p:spPr>
          <a:xfrm>
            <a:off x="5040630" y="2660154"/>
            <a:ext cx="0" cy="357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BE92E7-EA62-EE05-85D8-BF8F2D426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484098"/>
              </p:ext>
            </p:extLst>
          </p:nvPr>
        </p:nvGraphicFramePr>
        <p:xfrm>
          <a:off x="2818130" y="3050332"/>
          <a:ext cx="4445000" cy="1016000"/>
        </p:xfrm>
        <a:graphic>
          <a:graphicData uri="http://schemas.openxmlformats.org/drawingml/2006/table">
            <a:tbl>
              <a:tblPr/>
              <a:tblGrid>
                <a:gridCol w="1169904">
                  <a:extLst>
                    <a:ext uri="{9D8B030D-6E8A-4147-A177-3AD203B41FA5}">
                      <a16:colId xmlns:a16="http://schemas.microsoft.com/office/drawing/2014/main" val="551872887"/>
                    </a:ext>
                  </a:extLst>
                </a:gridCol>
                <a:gridCol w="1065278">
                  <a:extLst>
                    <a:ext uri="{9D8B030D-6E8A-4147-A177-3AD203B41FA5}">
                      <a16:colId xmlns:a16="http://schemas.microsoft.com/office/drawing/2014/main" val="3401796898"/>
                    </a:ext>
                  </a:extLst>
                </a:gridCol>
                <a:gridCol w="1382325">
                  <a:extLst>
                    <a:ext uri="{9D8B030D-6E8A-4147-A177-3AD203B41FA5}">
                      <a16:colId xmlns:a16="http://schemas.microsoft.com/office/drawing/2014/main" val="2540686147"/>
                    </a:ext>
                  </a:extLst>
                </a:gridCol>
                <a:gridCol w="827493">
                  <a:extLst>
                    <a:ext uri="{9D8B030D-6E8A-4147-A177-3AD203B41FA5}">
                      <a16:colId xmlns:a16="http://schemas.microsoft.com/office/drawing/2014/main" val="249648495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Repetition Rate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Flesch Reading Ease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Toxicity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4514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Full FT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0.0535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17.64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0.0007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3553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LoRA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0.0540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16.28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0.0007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70322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QLoRA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0.0553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17.89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0.0007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7285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Prefix Tuning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Helvetica Neue" panose="02000503000000020004" pitchFamily="2" charset="0"/>
                        </a:rPr>
                        <a:t>0.4844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Helvetica Neue" panose="02000503000000020004" pitchFamily="2" charset="0"/>
                        </a:rPr>
                        <a:t>61.06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Helvetica Neue" panose="02000503000000020004" pitchFamily="2" charset="0"/>
                        </a:rPr>
                        <a:t>0.0022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2865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B177C99-989D-D778-0373-3628F9933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647716"/>
              </p:ext>
            </p:extLst>
          </p:nvPr>
        </p:nvGraphicFramePr>
        <p:xfrm>
          <a:off x="838825" y="4189750"/>
          <a:ext cx="7767965" cy="1108320"/>
        </p:xfrm>
        <a:graphic>
          <a:graphicData uri="http://schemas.openxmlformats.org/drawingml/2006/table">
            <a:tbl>
              <a:tblPr firstRow="1" bandRow="1"/>
              <a:tblGrid>
                <a:gridCol w="814429">
                  <a:extLst>
                    <a:ext uri="{9D8B030D-6E8A-4147-A177-3AD203B41FA5}">
                      <a16:colId xmlns:a16="http://schemas.microsoft.com/office/drawing/2014/main" val="1757132160"/>
                    </a:ext>
                  </a:extLst>
                </a:gridCol>
                <a:gridCol w="1078516">
                  <a:extLst>
                    <a:ext uri="{9D8B030D-6E8A-4147-A177-3AD203B41FA5}">
                      <a16:colId xmlns:a16="http://schemas.microsoft.com/office/drawing/2014/main" val="3289073913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126277649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3951203680"/>
                    </a:ext>
                  </a:extLst>
                </a:gridCol>
              </a:tblGrid>
              <a:tr h="5817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Sl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No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METHOD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TRAINABLE PARAMETERS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24969"/>
                  </a:ext>
                </a:extLst>
              </a:tr>
              <a:tr h="26328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Diversity &amp; Novelty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Novelty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Semantic distance between generated SQL and input question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038120"/>
                  </a:ext>
                </a:extLst>
              </a:tr>
              <a:tr h="2632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Diversity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Average pairwise semantic distance across generated inputs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013363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DB337B-7985-5A54-3041-898566385C1F}"/>
              </a:ext>
            </a:extLst>
          </p:cNvPr>
          <p:cNvCxnSpPr>
            <a:cxnSpLocks/>
          </p:cNvCxnSpPr>
          <p:nvPr/>
        </p:nvCxnSpPr>
        <p:spPr>
          <a:xfrm>
            <a:off x="5067300" y="5338584"/>
            <a:ext cx="0" cy="284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9A9D7E1-6BEC-2C4D-CC8A-8A6109419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132031"/>
              </p:ext>
            </p:extLst>
          </p:nvPr>
        </p:nvGraphicFramePr>
        <p:xfrm>
          <a:off x="3257550" y="5653486"/>
          <a:ext cx="3619500" cy="1016000"/>
        </p:xfrm>
        <a:graphic>
          <a:graphicData uri="http://schemas.openxmlformats.org/drawingml/2006/table">
            <a:tbl>
              <a:tblPr/>
              <a:tblGrid>
                <a:gridCol w="1170548">
                  <a:extLst>
                    <a:ext uri="{9D8B030D-6E8A-4147-A177-3AD203B41FA5}">
                      <a16:colId xmlns:a16="http://schemas.microsoft.com/office/drawing/2014/main" val="2535024795"/>
                    </a:ext>
                  </a:extLst>
                </a:gridCol>
                <a:gridCol w="1065865">
                  <a:extLst>
                    <a:ext uri="{9D8B030D-6E8A-4147-A177-3AD203B41FA5}">
                      <a16:colId xmlns:a16="http://schemas.microsoft.com/office/drawing/2014/main" val="3878400516"/>
                    </a:ext>
                  </a:extLst>
                </a:gridCol>
                <a:gridCol w="1383087">
                  <a:extLst>
                    <a:ext uri="{9D8B030D-6E8A-4147-A177-3AD203B41FA5}">
                      <a16:colId xmlns:a16="http://schemas.microsoft.com/office/drawing/2014/main" val="35528321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Novelty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Diversity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48897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Full FT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0.3961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0.6717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9736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LoRA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0.3908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0.6740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8195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QLoRA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0.3909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432FF"/>
                          </a:solidFill>
                          <a:effectLst/>
                          <a:latin typeface="Helvetica Neue" panose="02000503000000020004" pitchFamily="2" charset="0"/>
                        </a:rPr>
                        <a:t>0.6758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8849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Prefix Tuning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Helvetica Neue" panose="02000503000000020004" pitchFamily="2" charset="0"/>
                        </a:rPr>
                        <a:t>0.7556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Helvetica Neue" panose="02000503000000020004" pitchFamily="2" charset="0"/>
                        </a:rPr>
                        <a:t>0.7605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4160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F8F952-379B-6C61-BD03-8C5B4BA366BB}"/>
              </a:ext>
            </a:extLst>
          </p:cNvPr>
          <p:cNvSpPr txBox="1"/>
          <p:nvPr/>
        </p:nvSpPr>
        <p:spPr>
          <a:xfrm>
            <a:off x="720707" y="813379"/>
            <a:ext cx="1027216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Quality metrics reveal a similar result-FT, LoRA and QLoRA are at par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FAC727-8662-A446-5C7D-1D72BB0C8994}"/>
              </a:ext>
            </a:extLst>
          </p:cNvPr>
          <p:cNvSpPr txBox="1"/>
          <p:nvPr/>
        </p:nvSpPr>
        <p:spPr>
          <a:xfrm>
            <a:off x="6996941" y="6407876"/>
            <a:ext cx="6095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Note: Next page shows detailed chart-based view across all these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198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F486-063E-54CC-3A0C-FFCCB57E4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41DF7-CB4D-6705-B376-16B3254B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564579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3.EVALUATION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016617-A3AE-1BBB-7FDE-5E862C1F3D72}"/>
              </a:ext>
            </a:extLst>
          </p:cNvPr>
          <p:cNvSpPr txBox="1"/>
          <p:nvPr/>
        </p:nvSpPr>
        <p:spPr>
          <a:xfrm>
            <a:off x="785210" y="911578"/>
            <a:ext cx="10378440" cy="369332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QUALITY METRICS – FT, LoRA and QLoRA are at par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C6AD01-F8CA-250F-9052-26B8B34CB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232230"/>
              </p:ext>
            </p:extLst>
          </p:nvPr>
        </p:nvGraphicFramePr>
        <p:xfrm>
          <a:off x="800100" y="4297680"/>
          <a:ext cx="10502901" cy="1696085"/>
        </p:xfrm>
        <a:graphic>
          <a:graphicData uri="http://schemas.openxmlformats.org/drawingml/2006/table">
            <a:tbl>
              <a:tblPr/>
              <a:tblGrid>
                <a:gridCol w="2031386">
                  <a:extLst>
                    <a:ext uri="{9D8B030D-6E8A-4147-A177-3AD203B41FA5}">
                      <a16:colId xmlns:a16="http://schemas.microsoft.com/office/drawing/2014/main" val="636416735"/>
                    </a:ext>
                  </a:extLst>
                </a:gridCol>
                <a:gridCol w="1866336">
                  <a:extLst>
                    <a:ext uri="{9D8B030D-6E8A-4147-A177-3AD203B41FA5}">
                      <a16:colId xmlns:a16="http://schemas.microsoft.com/office/drawing/2014/main" val="3457678351"/>
                    </a:ext>
                  </a:extLst>
                </a:gridCol>
                <a:gridCol w="1879032">
                  <a:extLst>
                    <a:ext uri="{9D8B030D-6E8A-4147-A177-3AD203B41FA5}">
                      <a16:colId xmlns:a16="http://schemas.microsoft.com/office/drawing/2014/main" val="284570159"/>
                    </a:ext>
                  </a:extLst>
                </a:gridCol>
                <a:gridCol w="2085345">
                  <a:extLst>
                    <a:ext uri="{9D8B030D-6E8A-4147-A177-3AD203B41FA5}">
                      <a16:colId xmlns:a16="http://schemas.microsoft.com/office/drawing/2014/main" val="2949773008"/>
                    </a:ext>
                  </a:extLst>
                </a:gridCol>
                <a:gridCol w="2640802">
                  <a:extLst>
                    <a:ext uri="{9D8B030D-6E8A-4147-A177-3AD203B41FA5}">
                      <a16:colId xmlns:a16="http://schemas.microsoft.com/office/drawing/2014/main" val="1618854241"/>
                    </a:ext>
                  </a:extLst>
                </a:gridCol>
              </a:tblGrid>
              <a:tr h="2108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Repetition Rate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(lower is better)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Flesch Reading Ease</a:t>
                      </a:r>
                      <a:b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(context-dependent)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Toxicity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(lower is better)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Novelty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(higher=more different </a:t>
                      </a:r>
                      <a:r>
                        <a:rPr lang="en-US" sz="12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/p </a:t>
                      </a:r>
                      <a:r>
                        <a:rPr lang="en-US" sz="12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ques</a:t>
                      </a: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Diversity</a:t>
                      </a:r>
                      <a:b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(outputs vary across examples)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92499"/>
                  </a:ext>
                </a:extLst>
              </a:tr>
              <a:tr h="13208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FT/LoRA/QLoRA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~0.053-0.055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implying minimal repeated tokens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0.484(10x higher)-&gt;less structured queries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FT/LoRA/QLoRA: ~16-18-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which is right for SQL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~61 -&gt; readable English prose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FT/LoRA/QLoRA: ~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0- no offensive language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0.0022-&gt; near 0 like others, slightly elevated due to natural language generation rather than SQL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FT/LoRA/QLoRA: ~0.391-0.39-SQL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different from Natural language question(expected)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~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0.76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 high novelty, but for wrong reason(incoherent)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FT/LoRA/QLoRA: ~0.67-0.68-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models not collapsing to repetitive outputs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Tuning: 0.76-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varied because they are random prose and not meaningful SQL variation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8633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E97777B-DEB5-610B-FD7D-E31ADA997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353312"/>
            <a:ext cx="10378440" cy="28829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3956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02F4A4-65DB-0165-C586-37E676260077}"/>
              </a:ext>
            </a:extLst>
          </p:cNvPr>
          <p:cNvSpPr txBox="1"/>
          <p:nvPr/>
        </p:nvSpPr>
        <p:spPr>
          <a:xfrm>
            <a:off x="901700" y="6413500"/>
            <a:ext cx="6235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Note: Higher diversity and novelty in Prefix Tuning are misleading — they reflect incoherent natural language outputs rather than meaningful SQL variation.</a:t>
            </a:r>
          </a:p>
        </p:txBody>
      </p:sp>
    </p:spTree>
    <p:extLst>
      <p:ext uri="{BB962C8B-B14F-4D97-AF65-F5344CB8AC3E}">
        <p14:creationId xmlns:p14="http://schemas.microsoft.com/office/powerpoint/2010/main" val="3641533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A893-8CB3-FC77-EA38-EA32DFD42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22E01-AAEB-1FDF-4072-7528F238F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564579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3.EVALUATION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822F72-0DAE-AFCE-2F63-B8A1DD235A33}"/>
              </a:ext>
            </a:extLst>
          </p:cNvPr>
          <p:cNvSpPr txBox="1"/>
          <p:nvPr/>
        </p:nvSpPr>
        <p:spPr>
          <a:xfrm>
            <a:off x="785209" y="911578"/>
            <a:ext cx="10427620" cy="369332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Comparison with Base Model: Near-parity for LoRA/QLoRA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5AEC7A-2FC5-F335-05B3-B872389960E0}"/>
              </a:ext>
            </a:extLst>
          </p:cNvPr>
          <p:cNvSpPr txBox="1"/>
          <p:nvPr/>
        </p:nvSpPr>
        <p:spPr>
          <a:xfrm>
            <a:off x="9125854" y="2805752"/>
            <a:ext cx="2086975" cy="12464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Base model significantly improves after fine-tuning; LoRA offers best efficiency-performance tradeoff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564E5-F514-4526-4003-832B18AA3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08" y="1377433"/>
            <a:ext cx="7867301" cy="44688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6CDAB7-6472-7DAC-967F-AF574CB1725A}"/>
              </a:ext>
            </a:extLst>
          </p:cNvPr>
          <p:cNvSpPr txBox="1"/>
          <p:nvPr/>
        </p:nvSpPr>
        <p:spPr>
          <a:xfrm>
            <a:off x="1327661" y="6407876"/>
            <a:ext cx="60955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Note: The comparison was added separately and is not part of the main project submission notebook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150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09B57-D61B-07D0-5F35-C14848E1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5AED5-34E2-49C9-485A-268B0F3A9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564579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FB414-74AF-AF10-D109-F1129ABC8029}"/>
              </a:ext>
            </a:extLst>
          </p:cNvPr>
          <p:cNvSpPr txBox="1"/>
          <p:nvPr/>
        </p:nvSpPr>
        <p:spPr>
          <a:xfrm>
            <a:off x="720707" y="916249"/>
            <a:ext cx="10272165" cy="64633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To complement the quantitative metrics, we inspect few samples- Full FT, LoRA and QLoRA generate comparable SQL outputs, Prefix Tuning lags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7D03B0-878A-4A65-5370-96735088D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267929"/>
              </p:ext>
            </p:extLst>
          </p:nvPr>
        </p:nvGraphicFramePr>
        <p:xfrm>
          <a:off x="689610" y="1577180"/>
          <a:ext cx="10526212" cy="426500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453468">
                  <a:extLst>
                    <a:ext uri="{9D8B030D-6E8A-4147-A177-3AD203B41FA5}">
                      <a16:colId xmlns:a16="http://schemas.microsoft.com/office/drawing/2014/main" val="1898659218"/>
                    </a:ext>
                  </a:extLst>
                </a:gridCol>
                <a:gridCol w="5072744">
                  <a:extLst>
                    <a:ext uri="{9D8B030D-6E8A-4147-A177-3AD203B41FA5}">
                      <a16:colId xmlns:a16="http://schemas.microsoft.com/office/drawing/2014/main" val="3407173404"/>
                    </a:ext>
                  </a:extLst>
                </a:gridCol>
              </a:tblGrid>
              <a:tr h="297340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FINANCIAL SERVICES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INSURANCE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612620"/>
                  </a:ext>
                </a:extLst>
              </a:tr>
              <a:tr h="48022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What is the minimum investment of Clients in the ”commodity” Fund?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Insert a new record in the claims table with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claim_id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3,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policy_id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2,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claim_amount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2500, and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claim_date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'2022-02-12'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872626"/>
                  </a:ext>
                </a:extLst>
              </a:tr>
              <a:tr h="3396327">
                <a:tc>
                  <a:txBody>
                    <a:bodyPr/>
                    <a:lstStyle/>
                    <a:p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52130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489D13F-2279-CF22-5784-EE2D2CB72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197" y="2727830"/>
            <a:ext cx="4339741" cy="28501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512B42-44F7-B114-B209-5D05D8428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2677044"/>
            <a:ext cx="4339741" cy="285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09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2806C0-3D83-A205-9457-30AC65B32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CB34C1E-219E-0617-1177-9D30B7C09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9982AF6-4C10-9CEB-2311-75CEE081E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5B2587DD-CEC4-6ECB-81C8-22AA49062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14D76-A136-4FCA-044F-5D14911F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564579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4.RESULTS &amp; ANALYSIS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2F41B12-FF2D-2877-2E66-FDA8E7375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D7C05F-0F87-1036-1D95-EB972D8F5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088265"/>
              </p:ext>
            </p:extLst>
          </p:nvPr>
        </p:nvGraphicFramePr>
        <p:xfrm>
          <a:off x="452456" y="1531159"/>
          <a:ext cx="7599016" cy="3487288"/>
        </p:xfrm>
        <a:graphic>
          <a:graphicData uri="http://schemas.openxmlformats.org/drawingml/2006/table">
            <a:tbl>
              <a:tblPr/>
              <a:tblGrid>
                <a:gridCol w="2247718">
                  <a:extLst>
                    <a:ext uri="{9D8B030D-6E8A-4147-A177-3AD203B41FA5}">
                      <a16:colId xmlns:a16="http://schemas.microsoft.com/office/drawing/2014/main" val="4076373161"/>
                    </a:ext>
                  </a:extLst>
                </a:gridCol>
                <a:gridCol w="5351298">
                  <a:extLst>
                    <a:ext uri="{9D8B030D-6E8A-4147-A177-3AD203B41FA5}">
                      <a16:colId xmlns:a16="http://schemas.microsoft.com/office/drawing/2014/main" val="784386867"/>
                    </a:ext>
                  </a:extLst>
                </a:gridCol>
              </a:tblGrid>
              <a:tr h="9015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Accuracy Metrics(BLEU, ROUGE and BERT Scores)</a:t>
                      </a:r>
                    </a:p>
                  </a:txBody>
                  <a:tcPr marL="9350" marR="9350" marT="9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 achieves the highest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score across all these 3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Gap between Full FT and LoRA is small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QLoRA performs slightly below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LoRA- tradeoff is acceptable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350" marR="9350" marT="9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452421"/>
                  </a:ext>
                </a:extLst>
              </a:tr>
              <a:tr h="9015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 Failure on Structured Output</a:t>
                      </a:r>
                    </a:p>
                  </a:txBody>
                  <a:tcPr marL="9350" marR="9350" marT="9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near-0 BLEU and ROUGE-1 reveal a  limitation: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61K trainable parameters are insufficient to learn SQL syntax from scratch in a single epoch. 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 Flesch Reading Ease score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confirms the model is generating natural language rather than SQL </a:t>
                      </a:r>
                    </a:p>
                  </a:txBody>
                  <a:tcPr marL="9350" marR="9350" marT="9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584498"/>
                  </a:ext>
                </a:extLst>
              </a:tr>
              <a:tr h="7605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Toxicity and Safety</a:t>
                      </a:r>
                    </a:p>
                  </a:txBody>
                  <a:tcPr marL="9350" marR="9350" marT="9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D2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FT/LoRA/QLoRA-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&gt;produce almost 0-toxicity scores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-&gt;Tendency to generate natural language rather than SQL </a:t>
                      </a:r>
                    </a:p>
                  </a:txBody>
                  <a:tcPr marL="9350" marR="9350" marT="9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661284"/>
                  </a:ext>
                </a:extLst>
              </a:tr>
              <a:tr h="9015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Diversity and Novelty</a:t>
                      </a:r>
                    </a:p>
                  </a:txBody>
                  <a:tcPr marL="9350" marR="9350" marT="9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B3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FT/LoRA/QLoRA-&gt;QLoRA shows marginal higher diversity than Full FT,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indicates slight output variation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-&gt;Shows highest diversity and novelty- outputs are more varied</a:t>
                      </a:r>
                    </a:p>
                  </a:txBody>
                  <a:tcPr marL="9350" marR="9350" marT="9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02810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6A166C4-6AA4-2F90-FD07-2F3114DC28C3}"/>
              </a:ext>
            </a:extLst>
          </p:cNvPr>
          <p:cNvSpPr/>
          <p:nvPr/>
        </p:nvSpPr>
        <p:spPr>
          <a:xfrm>
            <a:off x="1748857" y="5378193"/>
            <a:ext cx="8215863" cy="1194630"/>
          </a:xfrm>
          <a:prstGeom prst="roundRect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5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FRAUD DOMAIN APPLICABILITY -- &gt; </a:t>
            </a:r>
            <a:r>
              <a:rPr lang="en-US" sz="1250" b="1" u="sng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 represents an optimal choice</a:t>
            </a:r>
            <a:endParaRPr lang="en-US" sz="1250" u="sng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 within 3% of Full FT across all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35MB adapter file vs 1.97GB full model- trivial to version, deploy and update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be re-trained on new fraud patterns in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 domain- specific adapters (card fraud, AML, identity fraud) can be swapped onto the same frozen base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B2016A-C1A4-5EC0-71B2-DF1F57817E90}"/>
              </a:ext>
            </a:extLst>
          </p:cNvPr>
          <p:cNvCxnSpPr>
            <a:cxnSpLocks/>
          </p:cNvCxnSpPr>
          <p:nvPr/>
        </p:nvCxnSpPr>
        <p:spPr>
          <a:xfrm>
            <a:off x="4287587" y="5023261"/>
            <a:ext cx="0" cy="3196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6DF1EE5-4E88-0A19-A975-59214D37F6EF}"/>
              </a:ext>
            </a:extLst>
          </p:cNvPr>
          <p:cNvSpPr txBox="1"/>
          <p:nvPr/>
        </p:nvSpPr>
        <p:spPr>
          <a:xfrm>
            <a:off x="800100" y="759295"/>
            <a:ext cx="1027216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Below is a summary of the evaluation across all metrics and the key takeaways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CA7CC11-43D4-4A8C-3E1C-2E65B6EC6B41}"/>
              </a:ext>
            </a:extLst>
          </p:cNvPr>
          <p:cNvSpPr/>
          <p:nvPr/>
        </p:nvSpPr>
        <p:spPr>
          <a:xfrm>
            <a:off x="8668989" y="1531159"/>
            <a:ext cx="2814452" cy="3465044"/>
          </a:xfrm>
          <a:prstGeom prst="roundRect">
            <a:avLst/>
          </a:prstGeom>
          <a:solidFill>
            <a:srgbClr val="FFC000">
              <a:alpha val="5607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 Fine Tuning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Great performance but high computational and storage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Near-parity performance but with &lt;2% trainable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QLoRA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Further reduction in memory usage with minor quality degradation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Prefix Tuning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Ineffective for structured output tasks in this setting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ECD83-ECAA-1B78-58FA-6B085FF43358}"/>
              </a:ext>
            </a:extLst>
          </p:cNvPr>
          <p:cNvSpPr txBox="1"/>
          <p:nvPr/>
        </p:nvSpPr>
        <p:spPr>
          <a:xfrm>
            <a:off x="3405992" y="1126503"/>
            <a:ext cx="2232561" cy="369332"/>
          </a:xfrm>
          <a:prstGeom prst="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4B9742-7559-7F8F-762E-F012D5C9B221}"/>
              </a:ext>
            </a:extLst>
          </p:cNvPr>
          <p:cNvSpPr txBox="1"/>
          <p:nvPr/>
        </p:nvSpPr>
        <p:spPr>
          <a:xfrm>
            <a:off x="8959934" y="1126433"/>
            <a:ext cx="2232561" cy="369332"/>
          </a:xfrm>
          <a:prstGeom prst="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Tradeoffs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3C7655-F657-EABF-CEAF-5147142E465B}"/>
              </a:ext>
            </a:extLst>
          </p:cNvPr>
          <p:cNvCxnSpPr>
            <a:cxnSpLocks/>
          </p:cNvCxnSpPr>
          <p:nvPr/>
        </p:nvCxnSpPr>
        <p:spPr>
          <a:xfrm>
            <a:off x="9617622" y="5033159"/>
            <a:ext cx="0" cy="3196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9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6ED3F-5996-DB06-D22C-35DCBC9D8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25158AF-79C0-7B67-AC1F-CCD256CD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629F47C-2EB3-009A-6149-40C05843C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5F89A1BC-F602-20A0-42F6-46109602B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6CB058-6492-4197-7337-6F3D1D36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564579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5.LIMITATIONS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60EEBD4-DF57-33B3-8274-4A697098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B5DA68-4E35-32F6-5F5B-A11ECD8E9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574351"/>
              </p:ext>
            </p:extLst>
          </p:nvPr>
        </p:nvGraphicFramePr>
        <p:xfrm>
          <a:off x="1223010" y="1597189"/>
          <a:ext cx="9194800" cy="4127500"/>
        </p:xfrm>
        <a:graphic>
          <a:graphicData uri="http://schemas.openxmlformats.org/drawingml/2006/table">
            <a:tbl>
              <a:tblPr/>
              <a:tblGrid>
                <a:gridCol w="828103">
                  <a:extLst>
                    <a:ext uri="{9D8B030D-6E8A-4147-A177-3AD203B41FA5}">
                      <a16:colId xmlns:a16="http://schemas.microsoft.com/office/drawing/2014/main" val="2673318147"/>
                    </a:ext>
                  </a:extLst>
                </a:gridCol>
                <a:gridCol w="2474791">
                  <a:extLst>
                    <a:ext uri="{9D8B030D-6E8A-4147-A177-3AD203B41FA5}">
                      <a16:colId xmlns:a16="http://schemas.microsoft.com/office/drawing/2014/main" val="3544198153"/>
                    </a:ext>
                  </a:extLst>
                </a:gridCol>
                <a:gridCol w="5891906">
                  <a:extLst>
                    <a:ext uri="{9D8B030D-6E8A-4147-A177-3AD203B41FA5}">
                      <a16:colId xmlns:a16="http://schemas.microsoft.com/office/drawing/2014/main" val="1104092698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TRAINING DURATION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501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One epoch on 10,003 examples -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additional epochs would likely improve all methods , particularly Prefix Tuning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19462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DATASET SPECIFICITY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501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While filtered for financial/fraud risk domains, the dataset does not contain card-specific fraud tables(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transaction velocity, BIN analysis, chargeback rates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56908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EVALUATION METRIC FIT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501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BLEU and ROUGE measure token overlap,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SQL correctness- a query can be semant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ically correct but score poorly if it uses different column aliases or table references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589987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PREFIX TUNING CONFIGURATION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501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Number of virtual tokens =10 is conservative -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larger values may improve performance at the cost of inference speed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587516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EXECUTION-BASED EVALUATION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501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The SQLs were never really evaluated against a database to check if it executes correctly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7989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C9F3E6C-B4BA-1BE9-50C5-3AACB73F9A13}"/>
              </a:ext>
            </a:extLst>
          </p:cNvPr>
          <p:cNvSpPr txBox="1"/>
          <p:nvPr/>
        </p:nvSpPr>
        <p:spPr>
          <a:xfrm>
            <a:off x="754380" y="1017541"/>
            <a:ext cx="1027216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Below are the limitations &amp; Future Opportunities  </a:t>
            </a:r>
          </a:p>
        </p:txBody>
      </p:sp>
    </p:spTree>
    <p:extLst>
      <p:ext uri="{BB962C8B-B14F-4D97-AF65-F5344CB8AC3E}">
        <p14:creationId xmlns:p14="http://schemas.microsoft.com/office/powerpoint/2010/main" val="3646252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799E89-FFAA-BF3B-084B-CE2D19CA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87B17A0-CDD5-AC11-5346-3A44DF8E3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1975DE2-F17F-39D9-95F8-7432336FA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2252290-5B3D-AB0C-03C7-4E0B5C084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5CF9F-1A52-1866-F888-9F0DA3320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5645793" cy="142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6. CONCLUSION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C72DE83-3834-A05C-3989-3C560F061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1F0C38-6E04-F1C9-4E33-0A2466D7FE6B}"/>
              </a:ext>
            </a:extLst>
          </p:cNvPr>
          <p:cNvSpPr/>
          <p:nvPr/>
        </p:nvSpPr>
        <p:spPr>
          <a:xfrm>
            <a:off x="1131570" y="1462880"/>
            <a:ext cx="4229100" cy="3852070"/>
          </a:xfrm>
          <a:prstGeom prst="roundRect">
            <a:avLst/>
          </a:prstGeom>
          <a:solidFill>
            <a:srgbClr val="00B0F0">
              <a:alpha val="4470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PROJECT Demonstrates that </a:t>
            </a:r>
            <a:r>
              <a:rPr lang="en-US" sz="2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parameter-efficient fine tuning especially LoRA</a:t>
            </a:r>
            <a:r>
              <a:rPr lang="en-US" sz="2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can match full fine-tuning performance for Text-to-SQL tasks at a fraction of the computational cost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9717E7D-2E12-8434-3B11-08299E3D96D0}"/>
              </a:ext>
            </a:extLst>
          </p:cNvPr>
          <p:cNvSpPr/>
          <p:nvPr/>
        </p:nvSpPr>
        <p:spPr>
          <a:xfrm>
            <a:off x="6396990" y="1462880"/>
            <a:ext cx="4229100" cy="3852070"/>
          </a:xfrm>
          <a:prstGeom prst="roundRect">
            <a:avLst/>
          </a:prstGeom>
          <a:solidFill>
            <a:srgbClr val="92D050">
              <a:alpha val="4470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work should explore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Fine-tuning on fraud specific data(can be synthetic) from real payment fraud schema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EXECUTION-Based evaluation using actual SQL interpreters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multi epoch train with learning rate scheduling for Prefix Tuning</a:t>
            </a:r>
          </a:p>
          <a:p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D0198A-3BB4-B45E-D795-7AEE8E968FDF}"/>
              </a:ext>
            </a:extLst>
          </p:cNvPr>
          <p:cNvSpPr txBox="1"/>
          <p:nvPr/>
        </p:nvSpPr>
        <p:spPr>
          <a:xfrm>
            <a:off x="2369195" y="1078469"/>
            <a:ext cx="1753849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41EE64-E363-94A1-7CA8-C6638A414A0E}"/>
              </a:ext>
            </a:extLst>
          </p:cNvPr>
          <p:cNvSpPr txBox="1"/>
          <p:nvPr/>
        </p:nvSpPr>
        <p:spPr>
          <a:xfrm>
            <a:off x="7571125" y="1078469"/>
            <a:ext cx="1753849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US" dirty="0"/>
              <a:t>NEXT STEPS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3148E5-F8BB-686D-8C95-379A8FBA4A21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360670" y="3388915"/>
            <a:ext cx="1036320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370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24774-81D5-6D42-CBFF-66C130D8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841BDF-0430-7CF1-ECF6-DB676E66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07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842223-DBD5-27E0-8F76-A6DC423B4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 b="1" dirty="0">
                <a:solidFill>
                  <a:srgbClr val="FFFFFF"/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778067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D55C4-613D-B0EF-1AD4-D426C8DD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5F41A08-632B-2D63-0D08-8A5232C0D019}"/>
              </a:ext>
            </a:extLst>
          </p:cNvPr>
          <p:cNvSpPr txBox="1"/>
          <p:nvPr/>
        </p:nvSpPr>
        <p:spPr>
          <a:xfrm>
            <a:off x="700634" y="6412375"/>
            <a:ext cx="6348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Note: Refer Appendix for detailed distribution of domain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4794B8-1101-20CC-9B66-C3AA6AE25889}"/>
              </a:ext>
            </a:extLst>
          </p:cNvPr>
          <p:cNvSpPr txBox="1">
            <a:spLocks/>
          </p:cNvSpPr>
          <p:nvPr/>
        </p:nvSpPr>
        <p:spPr>
          <a:xfrm>
            <a:off x="812157" y="35394"/>
            <a:ext cx="10412103" cy="14274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1. Data Set &amp; Model Selection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94F6F-9C8D-51F3-DAE6-5898134C4261}"/>
              </a:ext>
            </a:extLst>
          </p:cNvPr>
          <p:cNvSpPr txBox="1"/>
          <p:nvPr/>
        </p:nvSpPr>
        <p:spPr>
          <a:xfrm>
            <a:off x="720707" y="916249"/>
            <a:ext cx="1027216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Domain Distribution in filtered train domain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4B7AFB-D11D-1EFC-7ED9-8BD594E9A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815641"/>
              </p:ext>
            </p:extLst>
          </p:nvPr>
        </p:nvGraphicFramePr>
        <p:xfrm>
          <a:off x="4631151" y="1745105"/>
          <a:ext cx="3594024" cy="2734295"/>
        </p:xfrm>
        <a:graphic>
          <a:graphicData uri="http://schemas.openxmlformats.org/drawingml/2006/table">
            <a:tbl>
              <a:tblPr/>
              <a:tblGrid>
                <a:gridCol w="2364008">
                  <a:extLst>
                    <a:ext uri="{9D8B030D-6E8A-4147-A177-3AD203B41FA5}">
                      <a16:colId xmlns:a16="http://schemas.microsoft.com/office/drawing/2014/main" val="742968515"/>
                    </a:ext>
                  </a:extLst>
                </a:gridCol>
                <a:gridCol w="1230016">
                  <a:extLst>
                    <a:ext uri="{9D8B030D-6E8A-4147-A177-3AD203B41FA5}">
                      <a16:colId xmlns:a16="http://schemas.microsoft.com/office/drawing/2014/main" val="2729187487"/>
                    </a:ext>
                  </a:extLst>
                </a:gridCol>
              </a:tblGrid>
              <a:tr h="25913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Domain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888980"/>
                  </a:ext>
                </a:extLst>
              </a:tr>
              <a:tr h="2713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Cybersecurity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1,360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06395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Financial Services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1,134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662218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Public safety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1,131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338979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1,051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22232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Blockchain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1,051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616065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Justice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929975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Insurance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691946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Legal Services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125520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Social Impact Investing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889934"/>
                  </a:ext>
                </a:extLst>
              </a:tr>
              <a:tr h="2448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Venture Capital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02386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B1FBDFF-BFFC-608B-68AC-D16EF9E0FE72}"/>
              </a:ext>
            </a:extLst>
          </p:cNvPr>
          <p:cNvSpPr/>
          <p:nvPr/>
        </p:nvSpPr>
        <p:spPr>
          <a:xfrm>
            <a:off x="720707" y="2500078"/>
            <a:ext cx="3246120" cy="1348900"/>
          </a:xfrm>
          <a:prstGeom prst="roundRect">
            <a:avLst/>
          </a:prstGeom>
          <a:solidFill>
            <a:srgbClr val="7030A0">
              <a:alpha val="72157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Original Train Size: 100000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Filtered Train Size: 10003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Original Test Size: 5851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Filtered Test Size: 580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7A9394-2A2D-C3CF-0DA0-D2A7F6B398DA}"/>
              </a:ext>
            </a:extLst>
          </p:cNvPr>
          <p:cNvCxnSpPr>
            <a:stCxn id="8" idx="3"/>
          </p:cNvCxnSpPr>
          <p:nvPr/>
        </p:nvCxnSpPr>
        <p:spPr>
          <a:xfrm>
            <a:off x="3966827" y="3174528"/>
            <a:ext cx="66432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8E97B0-3339-8292-5A6C-A1FFCA87CF9E}"/>
              </a:ext>
            </a:extLst>
          </p:cNvPr>
          <p:cNvCxnSpPr/>
          <p:nvPr/>
        </p:nvCxnSpPr>
        <p:spPr>
          <a:xfrm>
            <a:off x="8225175" y="3198186"/>
            <a:ext cx="66432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BA591D6-B551-784D-F3EC-7D479DF6A9CA}"/>
              </a:ext>
            </a:extLst>
          </p:cNvPr>
          <p:cNvSpPr/>
          <p:nvPr/>
        </p:nvSpPr>
        <p:spPr>
          <a:xfrm>
            <a:off x="8889499" y="2500078"/>
            <a:ext cx="2334761" cy="1348900"/>
          </a:xfrm>
          <a:prstGeom prst="roundRect">
            <a:avLst/>
          </a:prstGeom>
          <a:solidFill>
            <a:schemeClr val="accent5">
              <a:lumMod val="75000"/>
              <a:alpha val="72157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Formatted train examples: 10,003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Formatted Text examples: 580</a:t>
            </a:r>
          </a:p>
        </p:txBody>
      </p:sp>
    </p:spTree>
    <p:extLst>
      <p:ext uri="{BB962C8B-B14F-4D97-AF65-F5344CB8AC3E}">
        <p14:creationId xmlns:p14="http://schemas.microsoft.com/office/powerpoint/2010/main" val="3963767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C3975-16BE-8F50-FF46-42C19E7B3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4178D-C889-A9EF-6FA0-3399F1E72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5062863" cy="142748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2.MODEL FINE-TUNING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5CBDE5-CE1E-BE6A-4174-23667DF02AF0}"/>
              </a:ext>
            </a:extLst>
          </p:cNvPr>
          <p:cNvSpPr txBox="1"/>
          <p:nvPr/>
        </p:nvSpPr>
        <p:spPr>
          <a:xfrm>
            <a:off x="720707" y="813379"/>
            <a:ext cx="1027216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Training was performed using identical Hyperparameters where possible, to ensure a fair comparison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5DE256-F55D-0E09-1220-C775B807A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211341"/>
              </p:ext>
            </p:extLst>
          </p:nvPr>
        </p:nvGraphicFramePr>
        <p:xfrm>
          <a:off x="918210" y="2137567"/>
          <a:ext cx="5062862" cy="1513046"/>
        </p:xfrm>
        <a:graphic>
          <a:graphicData uri="http://schemas.openxmlformats.org/drawingml/2006/table">
            <a:tbl>
              <a:tblPr firstRow="1" bandRow="1"/>
              <a:tblGrid>
                <a:gridCol w="779079">
                  <a:extLst>
                    <a:ext uri="{9D8B030D-6E8A-4147-A177-3AD203B41FA5}">
                      <a16:colId xmlns:a16="http://schemas.microsoft.com/office/drawing/2014/main" val="1757132160"/>
                    </a:ext>
                  </a:extLst>
                </a:gridCol>
                <a:gridCol w="1881634">
                  <a:extLst>
                    <a:ext uri="{9D8B030D-6E8A-4147-A177-3AD203B41FA5}">
                      <a16:colId xmlns:a16="http://schemas.microsoft.com/office/drawing/2014/main" val="3289073913"/>
                    </a:ext>
                  </a:extLst>
                </a:gridCol>
                <a:gridCol w="2402149">
                  <a:extLst>
                    <a:ext uri="{9D8B030D-6E8A-4147-A177-3AD203B41FA5}">
                      <a16:colId xmlns:a16="http://schemas.microsoft.com/office/drawing/2014/main" val="1262776490"/>
                    </a:ext>
                  </a:extLst>
                </a:gridCol>
              </a:tblGrid>
              <a:tr h="2148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Sl</a:t>
                      </a: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No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METHOD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SUMMARY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24969"/>
                  </a:ext>
                </a:extLst>
              </a:tr>
              <a:tr h="279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Fine Tuning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All model parameters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(494 M)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038120"/>
                  </a:ext>
                </a:extLst>
              </a:tr>
              <a:tr h="2795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LoRA(Low-Rank Adaptation)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Low-Rank adapters added to attention layers(8.8M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paramters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23094"/>
                  </a:ext>
                </a:extLst>
              </a:tr>
              <a:tr h="2772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QLoRA (Quantized LoRA)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Quantized model + LoRA adapters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313591"/>
                  </a:ext>
                </a:extLst>
              </a:tr>
              <a:tr h="2772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Trainable prefix vectors added to input sequence</a:t>
                      </a:r>
                    </a:p>
                  </a:txBody>
                  <a:tcPr marL="5039" marR="5039" marT="503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55051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CBE3D9E-05AB-3BC4-C9C5-97EF5ACE5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593" y="1462880"/>
            <a:ext cx="4340279" cy="369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61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84C04-E5E5-3F2F-0FCF-6205D32D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1480-1214-6BBC-90F5-D06BAA485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35394"/>
            <a:ext cx="5062863" cy="142748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3.EVALUATION METRICS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A2C8D7-A6D2-49AF-09B5-1995D4412E1C}"/>
              </a:ext>
            </a:extLst>
          </p:cNvPr>
          <p:cNvSpPr txBox="1"/>
          <p:nvPr/>
        </p:nvSpPr>
        <p:spPr>
          <a:xfrm>
            <a:off x="720707" y="813379"/>
            <a:ext cx="1027216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All evaluation metrics shown for easy evaluation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60D2C5-D53B-271B-566E-FD1DDD489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348551"/>
              </p:ext>
            </p:extLst>
          </p:nvPr>
        </p:nvGraphicFramePr>
        <p:xfrm>
          <a:off x="720706" y="4401615"/>
          <a:ext cx="11040762" cy="1339405"/>
        </p:xfrm>
        <a:graphic>
          <a:graphicData uri="http://schemas.openxmlformats.org/drawingml/2006/table">
            <a:tbl>
              <a:tblPr/>
              <a:tblGrid>
                <a:gridCol w="982346">
                  <a:extLst>
                    <a:ext uri="{9D8B030D-6E8A-4147-A177-3AD203B41FA5}">
                      <a16:colId xmlns:a16="http://schemas.microsoft.com/office/drawing/2014/main" val="2142391418"/>
                    </a:ext>
                  </a:extLst>
                </a:gridCol>
                <a:gridCol w="765828">
                  <a:extLst>
                    <a:ext uri="{9D8B030D-6E8A-4147-A177-3AD203B41FA5}">
                      <a16:colId xmlns:a16="http://schemas.microsoft.com/office/drawing/2014/main" val="181711214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977199852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3201125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522505199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51889453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322302253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3812103702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4110845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344508123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132743291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2207664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853942681"/>
                    </a:ext>
                  </a:extLst>
                </a:gridCol>
                <a:gridCol w="777238">
                  <a:extLst>
                    <a:ext uri="{9D8B030D-6E8A-4147-A177-3AD203B41FA5}">
                      <a16:colId xmlns:a16="http://schemas.microsoft.com/office/drawing/2014/main" val="2872833569"/>
                    </a:ext>
                  </a:extLst>
                </a:gridCol>
              </a:tblGrid>
              <a:tr h="155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Method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BLEU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ROUGE-1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ROUGE-2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ROUGE-L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METEOR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GLEU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Repetition Rate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Flesch Reading Ease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CoSIM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BERT Score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Toxicity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Novelty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Diversity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325060"/>
                  </a:ext>
                </a:extLst>
              </a:tr>
              <a:tr h="155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FT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0.4759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0.8121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0.689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0.7833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0.7035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0.4676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0.0535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17.64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0.9323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0.9565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0.0007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0.3961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0.6717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407695"/>
                  </a:ext>
                </a:extLst>
              </a:tr>
              <a:tr h="155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LoRA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0.4533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0.8129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0.678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0.7789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0.6972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0.4515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16.28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0.9317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0.9555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0.0007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0.3908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0.6740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947116"/>
                  </a:ext>
                </a:extLst>
              </a:tr>
              <a:tr h="155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QLoRA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0.4501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0.8032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0.6687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0.7684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0.6847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0.4407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0.0553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17.89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0.9287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0.9538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0.0007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0.3909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0.6758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628055"/>
                  </a:ext>
                </a:extLst>
              </a:tr>
              <a:tr h="155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Prefix Tuning</a:t>
                      </a:r>
                    </a:p>
                  </a:txBody>
                  <a:tcPr marL="7277" marR="7277" marT="7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0.0005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0.0883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0.0119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0.0764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0.0329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0.0043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0.4844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61.06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0.3029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0.7623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0.7556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0.7605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31989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A1F850-2115-3E33-4CF2-085340389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82296"/>
              </p:ext>
            </p:extLst>
          </p:nvPr>
        </p:nvGraphicFramePr>
        <p:xfrm>
          <a:off x="1289050" y="1228295"/>
          <a:ext cx="8127999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1904893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2046920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72575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Similarity to reference SQL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Output Quality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Diversity &amp; novelty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950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BLEU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 — n-gram precision against reference (standard MT metric)</a:t>
                      </a: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ROUGE-1/2/L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 — recall-oriented overlap at unigram, bigram, and longest common subsequence level</a:t>
                      </a: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METEOR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 — alignment-based metric accounting for synonyms and stemming</a:t>
                      </a: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GLEU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 — sentence-level BLEU variant</a:t>
                      </a: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CoSIM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 — semantic cosine similarity using sentence embeddings (all-MiniLM-L6-v2)</a:t>
                      </a:r>
                    </a:p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BERT Score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 — contextual embedding similarity using RoBERTa-large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Repetition Rate </a:t>
                      </a: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– proportion of repeated tokens(lower=better)</a:t>
                      </a:r>
                    </a:p>
                    <a:p>
                      <a:endParaRPr 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Flesch Reading Ease </a:t>
                      </a: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– readability score(higher=more readable prose; for SQL, lower expected)</a:t>
                      </a:r>
                    </a:p>
                    <a:p>
                      <a:endParaRPr 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Toxicity</a:t>
                      </a: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– detoxify model toxicity score(lower = better)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Novelty</a:t>
                      </a: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– semantic distance between generated SQL and input question</a:t>
                      </a:r>
                    </a:p>
                    <a:p>
                      <a:endParaRPr 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Diversity</a:t>
                      </a: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 average pairwise semantic distance across generated outputs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07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396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38FF5-32B8-1B22-4ED6-DFD9EA0F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FE6D6C-5CCC-F901-9ADB-8F6E49BB14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07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BE0F6C-3F2F-64C8-5392-69C37D6C6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 b="1" dirty="0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734905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2755</Words>
  <Application>Microsoft Macintosh PowerPoint</Application>
  <PresentationFormat>Widescreen</PresentationFormat>
  <Paragraphs>486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Aptos Narrow</vt:lpstr>
      <vt:lpstr>Arial</vt:lpstr>
      <vt:lpstr>Calibri</vt:lpstr>
      <vt:lpstr>Calisto MT</vt:lpstr>
      <vt:lpstr>Courier New</vt:lpstr>
      <vt:lpstr>Helvetica Neue</vt:lpstr>
      <vt:lpstr>Univers Condensed</vt:lpstr>
      <vt:lpstr>Wingdings</vt:lpstr>
      <vt:lpstr>ChronicleVTI</vt:lpstr>
      <vt:lpstr>Fine Tuning LLMs for Text-to-SQL-Generation</vt:lpstr>
      <vt:lpstr>AGENDA</vt:lpstr>
      <vt:lpstr>EXECUTIVE SUMMARY</vt:lpstr>
      <vt:lpstr>SUMMARY-FLOW</vt:lpstr>
      <vt:lpstr>1. Data Set &amp; Model Selection</vt:lpstr>
      <vt:lpstr>PowerPoint Presentation</vt:lpstr>
      <vt:lpstr>2.MODEL FINE-TUNING</vt:lpstr>
      <vt:lpstr>3.EVALUATION</vt:lpstr>
      <vt:lpstr>3.EVALUATION</vt:lpstr>
      <vt:lpstr>3.EVALUATION </vt:lpstr>
      <vt:lpstr>3.EVALUATION </vt:lpstr>
      <vt:lpstr>3.EVALUATION </vt:lpstr>
      <vt:lpstr>3.EVALUATION</vt:lpstr>
      <vt:lpstr>3.EVALUATION</vt:lpstr>
      <vt:lpstr>3.EVALUATION</vt:lpstr>
      <vt:lpstr>4.RESULTS &amp; ANALYSIS</vt:lpstr>
      <vt:lpstr>5.LIMITATIONS</vt:lpstr>
      <vt:lpstr>6. CONCLUSION</vt:lpstr>
      <vt:lpstr>APPENDIX</vt:lpstr>
      <vt:lpstr>PowerPoint Presentation</vt:lpstr>
      <vt:lpstr>2.MODEL FINE-TUNING </vt:lpstr>
      <vt:lpstr>3.EVALUATION METRICS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Yoshita Gureja</dc:creator>
  <cp:lastModifiedBy>Yoshita Gureja</cp:lastModifiedBy>
  <cp:revision>125</cp:revision>
  <dcterms:created xsi:type="dcterms:W3CDTF">2026-04-13T10:03:23Z</dcterms:created>
  <dcterms:modified xsi:type="dcterms:W3CDTF">2026-04-20T15:06:01Z</dcterms:modified>
</cp:coreProperties>
</file>